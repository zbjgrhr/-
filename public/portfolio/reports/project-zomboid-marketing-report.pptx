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gif" ContentType="image/gif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1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2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6d568fa11043b6" /><Relationship Type="http://schemas.openxmlformats.org/officeDocument/2006/relationships/extended-properties" Target="/docProps/app.xml" Id="R37892d4650dd468a" /><Relationship Type="http://schemas.openxmlformats.org/officeDocument/2006/relationships/officeDocument" Target="/ppt/presentation.xml" Id="R6450e44dfb6b41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34eda2f5f14ffd"/>
  </p:sldMasterIdLst>
  <p:notesMasterIdLst>
    <p:notesMasterId xmlns:r="http://schemas.openxmlformats.org/officeDocument/2006/relationships" r:id="R3fd31ac49df74ca8"/>
  </p:notesMasterIdLst>
  <p:sldIdLst>
    <p:sldId xmlns:r="http://schemas.openxmlformats.org/officeDocument/2006/relationships" id="256" r:id="Rf70028d985474655"/>
    <p:sldId xmlns:r="http://schemas.openxmlformats.org/officeDocument/2006/relationships" id="257" r:id="R6ad922c37b6946e1"/>
    <p:sldId xmlns:r="http://schemas.openxmlformats.org/officeDocument/2006/relationships" id="258" r:id="R5a8c41b39bee4198"/>
    <p:sldId xmlns:r="http://schemas.openxmlformats.org/officeDocument/2006/relationships" id="259" r:id="Rb7c93db7e1b64267"/>
    <p:sldId xmlns:r="http://schemas.openxmlformats.org/officeDocument/2006/relationships" id="260" r:id="Rc6257259c82446c4"/>
    <p:sldId xmlns:r="http://schemas.openxmlformats.org/officeDocument/2006/relationships" id="261" r:id="Rcb4688b967144846"/>
    <p:sldId xmlns:r="http://schemas.openxmlformats.org/officeDocument/2006/relationships" id="262" r:id="R98db8e2d1e364084"/>
    <p:sldId xmlns:r="http://schemas.openxmlformats.org/officeDocument/2006/relationships" id="263" r:id="Rf240e80f5194491f"/>
    <p:sldId xmlns:r="http://schemas.openxmlformats.org/officeDocument/2006/relationships" id="264" r:id="R901ebd2b445e47d9"/>
    <p:sldId xmlns:r="http://schemas.openxmlformats.org/officeDocument/2006/relationships" id="265" r:id="R49ac4029a0334628"/>
    <p:sldId xmlns:r="http://schemas.openxmlformats.org/officeDocument/2006/relationships" id="266" r:id="R65d8bdcd5dd94591"/>
    <p:sldId xmlns:r="http://schemas.openxmlformats.org/officeDocument/2006/relationships" id="267" r:id="R200286cf2f9f461f"/>
    <p:sldId xmlns:r="http://schemas.openxmlformats.org/officeDocument/2006/relationships" id="268" r:id="R51c12ca52c104ca7"/>
    <p:sldId xmlns:r="http://schemas.openxmlformats.org/officeDocument/2006/relationships" id="269" r:id="R754d28fbeb2e4934"/>
    <p:sldId xmlns:r="http://schemas.openxmlformats.org/officeDocument/2006/relationships" id="270" r:id="R8957985d6f944364"/>
    <p:sldId xmlns:r="http://schemas.openxmlformats.org/officeDocument/2006/relationships" id="271" r:id="Rfb1a7848d4f54ad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eb0b402b074ff5" /><Relationship Type="http://schemas.openxmlformats.org/officeDocument/2006/relationships/slideMaster" Target="/ppt/slideMasters/slideMaster1.xml" Id="R8e34eda2f5f14ffd" /><Relationship Type="http://schemas.openxmlformats.org/officeDocument/2006/relationships/notesMaster" Target="/ppt/notesMasters/notesMaster1.xml" Id="R3fd31ac49df74ca8" /><Relationship Type="http://schemas.openxmlformats.org/officeDocument/2006/relationships/presProps" Target="/ppt/presProps.xml" Id="Rf3e26856e46c4a0c" /><Relationship Type="http://schemas.openxmlformats.org/officeDocument/2006/relationships/tableStyles" Target="/ppt/tableStyles.xml" Id="R6dd2143f556d4597" /><Relationship Type="http://schemas.openxmlformats.org/officeDocument/2006/relationships/slide" Target="/ppt/slides/slide1.xml" Id="Rf70028d985474655" /><Relationship Type="http://schemas.openxmlformats.org/officeDocument/2006/relationships/slide" Target="/ppt/slides/slide2.xml" Id="R6ad922c37b6946e1" /><Relationship Type="http://schemas.openxmlformats.org/officeDocument/2006/relationships/slide" Target="/ppt/slides/slide3.xml" Id="R5a8c41b39bee4198" /><Relationship Type="http://schemas.openxmlformats.org/officeDocument/2006/relationships/slide" Target="/ppt/slides/slide4.xml" Id="Rb7c93db7e1b64267" /><Relationship Type="http://schemas.openxmlformats.org/officeDocument/2006/relationships/slide" Target="/ppt/slides/slide5.xml" Id="Rc6257259c82446c4" /><Relationship Type="http://schemas.openxmlformats.org/officeDocument/2006/relationships/slide" Target="/ppt/slides/slide6.xml" Id="Rcb4688b967144846" /><Relationship Type="http://schemas.openxmlformats.org/officeDocument/2006/relationships/slide" Target="/ppt/slides/slide7.xml" Id="R98db8e2d1e364084" /><Relationship Type="http://schemas.openxmlformats.org/officeDocument/2006/relationships/slide" Target="/ppt/slides/slide8.xml" Id="Rf240e80f5194491f" /><Relationship Type="http://schemas.openxmlformats.org/officeDocument/2006/relationships/slide" Target="/ppt/slides/slide9.xml" Id="R901ebd2b445e47d9" /><Relationship Type="http://schemas.openxmlformats.org/officeDocument/2006/relationships/slide" Target="/ppt/slides/slide10.xml" Id="R49ac4029a0334628" /><Relationship Type="http://schemas.openxmlformats.org/officeDocument/2006/relationships/slide" Target="/ppt/slides/slide11.xml" Id="R65d8bdcd5dd94591" /><Relationship Type="http://schemas.openxmlformats.org/officeDocument/2006/relationships/slide" Target="/ppt/slides/slide12.xml" Id="R200286cf2f9f461f" /><Relationship Type="http://schemas.openxmlformats.org/officeDocument/2006/relationships/slide" Target="/ppt/slides/slide13.xml" Id="R51c12ca52c104ca7" /><Relationship Type="http://schemas.openxmlformats.org/officeDocument/2006/relationships/slide" Target="/ppt/slides/slide14.xml" Id="R754d28fbeb2e4934" /><Relationship Type="http://schemas.openxmlformats.org/officeDocument/2006/relationships/slide" Target="/ppt/slides/slide15.xml" Id="R8957985d6f944364" /><Relationship Type="http://schemas.openxmlformats.org/officeDocument/2006/relationships/slide" Target="/ppt/slides/slide16.xml" Id="Rfb1a7848d4f54a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c8f2b17a7848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5e6873774b469e" /><Relationship Type="http://schemas.openxmlformats.org/officeDocument/2006/relationships/notesMaster" Target="/ppt/notesMasters/notesMaster1.xml" Id="R2d2dff3512c447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a3682cec3f144fe" /><Relationship Type="http://schemas.openxmlformats.org/officeDocument/2006/relationships/notesMaster" Target="/ppt/notesMasters/notesMaster1.xml" Id="R7f514a7f3e0a45b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12f77552ec8483a" /><Relationship Type="http://schemas.openxmlformats.org/officeDocument/2006/relationships/notesMaster" Target="/ppt/notesMasters/notesMaster1.xml" Id="R9819d6d073a24d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be53a01e4024dd1" /><Relationship Type="http://schemas.openxmlformats.org/officeDocument/2006/relationships/notesMaster" Target="/ppt/notesMasters/notesMaster1.xml" Id="R09b98e920f1743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bde42bec25f4866" /><Relationship Type="http://schemas.openxmlformats.org/officeDocument/2006/relationships/notesMaster" Target="/ppt/notesMasters/notesMaster1.xml" Id="Rc8a53badbc4d48e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571ebd8acf44743" /><Relationship Type="http://schemas.openxmlformats.org/officeDocument/2006/relationships/notesMaster" Target="/ppt/notesMasters/notesMaster1.xml" Id="R606b8aec798a4cd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a55790ae3e14763" /><Relationship Type="http://schemas.openxmlformats.org/officeDocument/2006/relationships/notesMaster" Target="/ppt/notesMasters/notesMaster1.xml" Id="R11a1f9044aa3444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ac5cf769db54bac" /><Relationship Type="http://schemas.openxmlformats.org/officeDocument/2006/relationships/notesMaster" Target="/ppt/notesMasters/notesMaster1.xml" Id="R44c4194602f6474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837af36f0df4985" /><Relationship Type="http://schemas.openxmlformats.org/officeDocument/2006/relationships/notesMaster" Target="/ppt/notesMasters/notesMaster1.xml" Id="R840cf683341f491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7af78b0ed234b08" /><Relationship Type="http://schemas.openxmlformats.org/officeDocument/2006/relationships/notesMaster" Target="/ppt/notesMasters/notesMaster1.xml" Id="R4abd222f450d4ef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7e529706cac4e13" /><Relationship Type="http://schemas.openxmlformats.org/officeDocument/2006/relationships/notesMaster" Target="/ppt/notesMasters/notesMaster1.xml" Id="R5bb73e5fb566490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f071a51db4c4fa1" /><Relationship Type="http://schemas.openxmlformats.org/officeDocument/2006/relationships/notesMaster" Target="/ppt/notesMasters/notesMaster1.xml" Id="R44aeb196be0346a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33b2268e8624a69" /><Relationship Type="http://schemas.openxmlformats.org/officeDocument/2006/relationships/notesMaster" Target="/ppt/notesMasters/notesMaster1.xml" Id="R9ebd0a8f78b54f9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2b393f121154e5e" /><Relationship Type="http://schemas.openxmlformats.org/officeDocument/2006/relationships/notesMaster" Target="/ppt/notesMasters/notesMaster1.xml" Id="R2edded48370f475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f1f5645a6544659" /><Relationship Type="http://schemas.openxmlformats.org/officeDocument/2006/relationships/notesMaster" Target="/ppt/notesMasters/notesMaster1.xml" Id="R3f18274175f9460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8a2a28562e34106" /><Relationship Type="http://schemas.openxmlformats.org/officeDocument/2006/relationships/notesMaster" Target="/ppt/notesMasters/notesMaster1.xml" Id="R6c0705643ae94e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开场双帧动画说明：本页自动淡化切换至第2页，利用两张已审定封面图、轻微推近与冷暖叠色营造动图效果。</a:t>
            </a:r>
          </a:p>
          <a:p xmlns:a="http://schemas.openxmlformats.org/drawingml/2006/main">
            <a:r>
              <a:t>图像说明：自制作概念图，基于《Project Zomboid》马镇教堂场景创作；建筑参考出自The Indie Stone官方Build 42更新资料。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图像说明：自制作概念图，基于《Project Zomboid》马镇教堂场景创作；建筑参考出自The Indie Stone官方Build 42更新资料。</a:t>
            </a:r>
          </a:p>
          <a:p xmlns:a="http://schemas.openxmlformats.org/drawingml/2006/main">
            <a:r>
              <a:t>本页与第1页构成开场双帧效果。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SteamDB Charts: https://steamdb.info/app/108600/charts/</a:t>
            </a:r>
          </a:p>
          <a:p xmlns:a="http://schemas.openxmlformats.org/drawingml/2006/main">
            <a:r>
              <a:t>Steam Store: https://store.steampowered.com/app/108600/Project_Zomboid/</a:t>
            </a:r>
          </a:p>
          <a:p xmlns:a="http://schemas.openxmlformats.org/drawingml/2006/main">
            <a:r>
              <a:t>Steam Workshop: https://steamcommunity.com/app/108600/workshop/</a:t>
            </a:r>
          </a:p>
          <a:p xmlns:a="http://schemas.openxmlformats.org/drawingml/2006/main">
            <a:r>
              <a:t>访问日期：2026-10-05。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Steam Store: https://store.steampowered.com/app/108600/Project_Zomboid/</a:t>
            </a:r>
          </a:p>
          <a:p xmlns:a="http://schemas.openxmlformats.org/drawingml/2006/main">
            <a:r>
              <a:t>官方商店页发行日期：2013-11-08；截图与功能描述来自官方商店页。访问日期：2026-10-05。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SteamDB Charts: https://steamdb.info/app/108600/charts/</a:t>
            </a:r>
          </a:p>
          <a:p xmlns:a="http://schemas.openxmlformats.org/drawingml/2006/main">
            <a:r>
              <a:t>截面同时在线59,119；24小时峰值82,316；历史峰值124,995，日期2026-08-09。访问日期：2026-10-05。</a:t>
            </a:r>
          </a:p>
          <a:p xmlns:a="http://schemas.openxmlformats.org/drawingml/2006/main">
            <a:r>
              <a:t>SteamDB完整页面受Cloudflare验证保护，本报告未绕过验证，使用公开嵌入图。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用户画像为策略分析，不是Steam公开的人口统计数据。</a:t>
            </a:r>
          </a:p>
          <a:p xmlns:a="http://schemas.openxmlformats.org/drawingml/2006/main">
            <a:r>
              <a:t>作者个人主页截图由作者提供，显示Project Zomboid总时数342小时、4枚徽章及创意工坊身份；截图时间为2026年10月。</a:t>
            </a:r>
          </a:p>
          <a:p xmlns:a="http://schemas.openxmlformats.org/drawingml/2006/main">
            <a:r>
              <a:t>英文评测：https://steamcommunity.com/app/108600/reviews/?browsefilter=toprated&amp;filterLanguage=english&amp;p=1；5,052人认为有用，访问日期：2026-10-07。</a:t>
            </a:r>
          </a:p>
          <a:p xmlns:a="http://schemas.openxmlformats.org/drawingml/2006/main">
            <a:r>
              <a:t>Discord官方游戏页：https://discord.com/game/project-zomboid-426526722322726912；公开页显示约23.6万成员，访问日期：2026-10-07。</a:t>
            </a:r>
          </a:p>
          <a:p xmlns:a="http://schemas.openxmlformats.org/drawingml/2006/main">
            <a:r>
              <a:t>Steam评测语言占比使用2026-10-05 API截面：俄语13.85%，西班牙语（西班牙+拉美）15.15%。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Steam Store: https://store.steampowered.com/app/108600/Project_Zomboid/</a:t>
            </a:r>
          </a:p>
          <a:p xmlns:a="http://schemas.openxmlformats.org/drawingml/2006/main">
            <a:r>
              <a:t>公开标签包括Survival、Zombies、Open World、Multiplayer、Open World Survival Craft、Sandbox、Crafting、Building、Simulation、RPG等。访问日期：2026-10-05。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图片均来自Steam《Project Zomboid》官方商店页媒体库。https://store.steampowered.com/app/108600/Project_Zomboid/</a:t>
            </a:r>
          </a:p>
          <a:p xmlns:a="http://schemas.openxmlformats.org/drawingml/2006/main">
            <a:r>
              <a:t>访问日期：2026-10-05。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转化漏斗为基于Steam商店页结构与公开素材的策略拆解。</a:t>
            </a:r>
          </a:p>
          <a:p xmlns:a="http://schemas.openxmlformats.org/drawingml/2006/main">
            <a:r>
              <a:t>Steam Store: https://store.steampowered.com/app/108600/Project_Zomboid/ 访问日期：2026-10-05。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英文：https://steamcommunity.com/app/108600/reviews/?browsefilter=toprated&amp;filterLanguage=english&amp;p=1；5,052人认为有用。</a:t>
            </a:r>
          </a:p>
          <a:p xmlns:a="http://schemas.openxmlformats.org/drawingml/2006/main">
            <a:r>
              <a:t>简中：https://steamcommunity.com/app/108600/positivereviews/?browsefilter=toprated&amp;filterLanguage=schinese&amp;p=1&amp;l=schinese；3,033人认为有价值。</a:t>
            </a:r>
          </a:p>
          <a:p xmlns:a="http://schemas.openxmlformats.org/drawingml/2006/main">
            <a:r>
              <a:t>俄语：https://steamcommunity.com/app/108600/positivereviews/?browsefilter=toprated&amp;filterLanguage=russian&amp;p=1&amp;l=russian；1,524人认为有用。</a:t>
            </a:r>
          </a:p>
          <a:p xmlns:a="http://schemas.openxmlformats.org/drawingml/2006/main">
            <a:r>
              <a:t>三页访问日期：2026-10-07。截图为Steam公开页面原貌，仅在版面内裁切。</a:t>
            </a:r>
          </a:p>
          <a:p xmlns:a="http://schemas.openxmlformats.org/drawingml/2006/main">
            <a:r>
              <a:t>语言分布仍使用Steam Reviews API 2026-10-05截面：英语43.10%、西语合计15.15%、俄语13.85%、巴西葡语7.70%、中文简繁合计6.55%。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官方Discord：https://discord.com/invite/theindiestone</a:t>
            </a:r>
          </a:p>
          <a:p xmlns:a="http://schemas.openxmlformats.org/drawingml/2006/main">
            <a:r>
              <a:t>Discord官方游戏页：https://discord.com/game/project-zomboid-426526722322726912；截图显示236,377成员、75,855在线；访问日期2026-10-07。</a:t>
            </a:r>
          </a:p>
          <a:p xmlns:a="http://schemas.openxmlformats.org/drawingml/2006/main">
            <a:r>
              <a:t>公开邀请API同时验证Guild ID 136501320340209664及官方描述 Official Discord from the Devs of Project Zomboid。</a:t>
            </a:r>
          </a:p>
          <a:p xmlns:a="http://schemas.openxmlformats.org/drawingml/2006/main">
            <a:r>
              <a:t>Build 42.20: https://projectzomboid.com/blog/news/2026/07/project-zomboid-build-42-20-released/</a:t>
            </a:r>
          </a:p>
          <a:p xmlns:a="http://schemas.openxmlformats.org/drawingml/2006/main">
            <a:r>
              <a:t>频道完整列表需要加入服务器后才能可靠确认，本页不使用未验证频道名称。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本页全部素材由作者提供。Steam Workshop物品ID：3814649025。</a:t>
            </a:r>
          </a:p>
          <a:p xmlns:a="http://schemas.openxmlformats.org/drawingml/2006/main">
            <a:r>
              <a:t>作者截图显示：4,431不重复访客、1,480当前订阅者、182当前收藏、4个讨论、10条留言；截图时间为2026年10月。</a:t>
            </a:r>
          </a:p>
          <a:p xmlns:a="http://schemas.openxmlformats.org/drawingml/2006/main">
            <a:r>
              <a:t>《防腐剂》面向Build 42，分类为Food、Items。Workshop说明采用中英双语，功能包括可调保鲜效率、全局食物保鲜、包裹寿命、冰箱与冷冻支持、中毒倒计时及治疗提示。</a:t>
            </a:r>
          </a:p>
          <a:p xmlns:a="http://schemas.openxmlformats.org/drawingml/2006/main">
            <a:r>
              <a:t>动态图preservative-branded.gif为作者提供的9帧循环GIF，PPT放映时播放；静态渲染只显示首帧。</a:t>
            </a:r>
          </a:p>
          <a:p xmlns:a="http://schemas.openxmlformats.org/drawingml/2006/main">
            <a:r>
              <a:t>对比数据（访问日期2026-10-07）：Common Sense 3,804,966；Better Sorting 3,360,165；Autotsar Motorclub 2,041,748；Food Preservation Plus 230,604；防腐剂1,480。</a:t>
            </a:r>
          </a:p>
          <a:p xmlns:a="http://schemas.openxmlformats.org/drawingml/2006/main">
            <a:r>
              <a:t>Common Sense：https://steamcommunity.com/sharedfiles/filedetails/?id=2875848298；Better Sorting：https://steamcommunity.com/workshop/filedetails/?id=2313387159；Autotsar Motorclub：https://steamcommunity.com/sharedfiles/filedetails/?id=2778576730；Food Preservation Plus：https://steamcommunity.com/workshop/filedetails/?id=2890748284。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Steam Store: https://store.steampowered.com/app/108600/Project_Zomboid/（24种界面语言）</a:t>
            </a:r>
          </a:p>
          <a:p xmlns:a="http://schemas.openxmlformats.org/drawingml/2006/main">
            <a:r>
              <a:t>SteamDB: https://steamdb.info/app/108600/（价格截面）</a:t>
            </a:r>
          </a:p>
          <a:p xmlns:a="http://schemas.openxmlformats.org/drawingml/2006/main">
            <a:r>
              <a:t>促销截面：美国$16.74；中国¥62.31≈$9.29；俄罗斯₽703≈$8.43；拉美美元区$8.36。访问日期：2026-10-05。</a:t>
            </a:r>
          </a:p>
          <a:p xmlns:a="http://schemas.openxmlformats.org/drawingml/2006/main">
            <a:r>
              <a:t>Build 42.20: https://projectzomboid.com/blog/news/2026/07/project-zomboid-build-42-20-released/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本页为基于前述公开证据形成的策略结论。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Zomboid Steam：https://store.steampowered.com/app/108600/；24种语言、Steam Workshop。Workshop物品66,070，访问日期2026-10-05。</a:t>
            </a:r>
          </a:p>
          <a:p xmlns:a="http://schemas.openxmlformats.org/drawingml/2006/main">
            <a:r>
              <a:t>7 Days to Die Steam：https://store.steampowered.com/app/251570/；正式发行日期2024-07-25、14种语言，商店页未列Steam Workshop。</a:t>
            </a:r>
          </a:p>
          <a:p xmlns:a="http://schemas.openxmlformats.org/drawingml/2006/main">
            <a:r>
              <a:t>7 Days to Die 1.0官方信息：https://community.thefunpimps.com/threads/v1-x-developer-diary.35064/；Stable PC Release: July 25 2024。</a:t>
            </a:r>
          </a:p>
          <a:p xmlns:a="http://schemas.openxmlformats.org/drawingml/2006/main">
            <a:r>
              <a:t>Rust Steam：https://store.steampowered.com/app/252490/；25种语言、Steam Workshop。Rust SteamDB：https://steamdb.info/app/252490/charts/；访问日期2026-10-07，当前88,555、历史峰值262,284。</a:t>
            </a:r>
          </a:p>
          <a:p xmlns:a="http://schemas.openxmlformats.org/drawingml/2006/main">
            <a:r>
              <a:t>Rust Workshop：https://steamcommunity.com/workshop/browse/?appid=252490（页面明确写有Upload new skins for Rust）；Facepunch服务器文档：https://wiki.facepunch.com/rust/creating-a-server（说明Oxide插件支持）。</a:t>
            </a:r>
          </a:p>
          <a:p xmlns:a="http://schemas.openxmlformats.org/drawingml/2006/main">
            <a:r>
              <a:t>对未在公开资料中验证到的机制，本页使用“未验证到”而不是断言其不存在。三张头图均出自对应Steam官方商店页。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背景图来源：Steam Store官方截图。https://store.steampowered.com/app/108600/Project_Zomboid/ 访问日期：2026-10-05。</a:t>
            </a:r>
          </a:p>
          <a:p xmlns:a="http://schemas.openxmlformats.org/drawingml/2006/main">
            <a:r>
              <a:t>本页建议在不改变用户原始语言风格的前提下，将前述证据转译为可执行建议。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a399af7f5045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e70d09ed43485e" /><Relationship Type="http://schemas.openxmlformats.org/officeDocument/2006/relationships/slideLayout" Target="/ppt/slideLayouts/slideLayout1.xml" Id="R242699628c4c44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2699628c4c44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f2a96cf11a4b3d" /><Relationship Type="http://schemas.openxmlformats.org/officeDocument/2006/relationships/image" Target="/ppt/media/image.png" Id="R9810816eaa31498b" /><Relationship Type="http://schemas.openxmlformats.org/officeDocument/2006/relationships/notesSlide" Target="/ppt/notesSlides/notesSlide1.xml" Id="R09ab145efb7b4f6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5fde59cbd5405f" /><Relationship Type="http://schemas.openxmlformats.org/officeDocument/2006/relationships/image" Target="/ppt/media/image2.png" Id="R33610daf2f994a64" /><Relationship Type="http://schemas.openxmlformats.org/officeDocument/2006/relationships/notesSlide" Target="/ppt/notesSlides/notesSlide2.xml" Id="R45ce17fc0b0a44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f7e51d8b9849f6" /><Relationship Type="http://schemas.openxmlformats.org/officeDocument/2006/relationships/notesSlide" Target="/ppt/notesSlides/notesSlide3.xml" Id="R0a31533bdb6244d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830042ceb64b00" /><Relationship Type="http://schemas.openxmlformats.org/officeDocument/2006/relationships/image" Target="/ppt/media/image.jpeg" Id="R1bb93e1514844a14" /><Relationship Type="http://schemas.openxmlformats.org/officeDocument/2006/relationships/notesSlide" Target="/ppt/notesSlides/notesSlide4.xml" Id="R38e6e19173a74b9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26b44a348440e9" /><Relationship Type="http://schemas.openxmlformats.org/officeDocument/2006/relationships/image" Target="/ppt/media/image3.png" Id="Rb2b25c852bbb4df3" /><Relationship Type="http://schemas.openxmlformats.org/officeDocument/2006/relationships/notesSlide" Target="/ppt/notesSlides/notesSlide5.xml" Id="Ra220e59de1aa45d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e8302ab7a84bd9" /><Relationship Type="http://schemas.openxmlformats.org/officeDocument/2006/relationships/image" Target="/ppt/media/image4.png" Id="R7afbf4c756d1407f" /><Relationship Type="http://schemas.openxmlformats.org/officeDocument/2006/relationships/image" Target="/ppt/media/image5.png" Id="R0792733a6cd14f74" /><Relationship Type="http://schemas.openxmlformats.org/officeDocument/2006/relationships/image" Target="/ppt/media/image6.png" Id="Re612066b56ab4420" /><Relationship Type="http://schemas.openxmlformats.org/officeDocument/2006/relationships/notesSlide" Target="/ppt/notesSlides/notesSlide6.xml" Id="R91d07e76e06443b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7229b149e944c0" /><Relationship Type="http://schemas.openxmlformats.org/officeDocument/2006/relationships/image" Target="/ppt/media/image7.png" Id="R0bddd506477a4684" /><Relationship Type="http://schemas.openxmlformats.org/officeDocument/2006/relationships/notesSlide" Target="/ppt/notesSlides/notesSlide7.xml" Id="Re0b1c43045f44cc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0d36121681410b" /><Relationship Type="http://schemas.openxmlformats.org/officeDocument/2006/relationships/image" Target="/ppt/media/image2.jpeg" Id="R5fbb4a502d0e4282" /><Relationship Type="http://schemas.openxmlformats.org/officeDocument/2006/relationships/image" Target="/ppt/media/image3.jpeg" Id="R6f7e268fcbd6482d" /><Relationship Type="http://schemas.openxmlformats.org/officeDocument/2006/relationships/image" Target="/ppt/media/image4.jpeg" Id="R3223b489d1c9439f" /><Relationship Type="http://schemas.openxmlformats.org/officeDocument/2006/relationships/image" Target="/ppt/media/image5.jpeg" Id="R08a395e11e174af1" /><Relationship Type="http://schemas.openxmlformats.org/officeDocument/2006/relationships/notesSlide" Target="/ppt/notesSlides/notesSlide8.xml" Id="R05dbe8e662f74ee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9e96d2d2c04099" /><Relationship Type="http://schemas.openxmlformats.org/officeDocument/2006/relationships/notesSlide" Target="/ppt/notesSlides/notesSlide9.xml" Id="R239e0ec76e7d4a8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574d27fc1b4d10" /><Relationship Type="http://schemas.openxmlformats.org/officeDocument/2006/relationships/image" Target="/ppt/media/image8.png" Id="R49e02ef00cb84385" /><Relationship Type="http://schemas.openxmlformats.org/officeDocument/2006/relationships/image" Target="/ppt/media/image9.png" Id="Rdc27ffc20a634121" /><Relationship Type="http://schemas.openxmlformats.org/officeDocument/2006/relationships/image" Target="/ppt/media/image10.png" Id="R146081c0e72a4cf0" /><Relationship Type="http://schemas.openxmlformats.org/officeDocument/2006/relationships/notesSlide" Target="/ppt/notesSlides/notesSlide10.xml" Id="Rcb3cf1b062a0427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b482a6bb304601" /><Relationship Type="http://schemas.openxmlformats.org/officeDocument/2006/relationships/image" Target="/ppt/media/image11.png" Id="Re8ca8632270c447e" /><Relationship Type="http://schemas.openxmlformats.org/officeDocument/2006/relationships/image" Target="/ppt/media/image12.png" Id="R28553f0b73d840e0" /><Relationship Type="http://schemas.openxmlformats.org/officeDocument/2006/relationships/notesSlide" Target="/ppt/notesSlides/notesSlide11.xml" Id="R35b4c0d4f2aa458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72686371c84f90" /><Relationship Type="http://schemas.openxmlformats.org/officeDocument/2006/relationships/image" Target="/ppt/media/image13.png" Id="R6e75f6ddd3894669" /><Relationship Type="http://schemas.openxmlformats.org/officeDocument/2006/relationships/image" Target="/ppt/media/image.gif" Id="Red38d475feb641a9" /><Relationship Type="http://schemas.openxmlformats.org/officeDocument/2006/relationships/chart" Target="/ppt/slides/charts/chart1.xml" Id="R9aac39b78e204d05" /><Relationship Type="http://schemas.openxmlformats.org/officeDocument/2006/relationships/notesSlide" Target="/ppt/notesSlides/notesSlide12.xml" Id="R04f656eebf7d4a0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eaf0848e504dc6" /><Relationship Type="http://schemas.openxmlformats.org/officeDocument/2006/relationships/chart" Target="/ppt/slides/charts/chart2.xml" Id="R53011f6c770e4da7" /><Relationship Type="http://schemas.openxmlformats.org/officeDocument/2006/relationships/notesSlide" Target="/ppt/notesSlides/notesSlide13.xml" Id="R12adb0a7feb4468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06f327c0034d50" /><Relationship Type="http://schemas.openxmlformats.org/officeDocument/2006/relationships/notesSlide" Target="/ppt/notesSlides/notesSlide14.xml" Id="R1dc2d13e715e4cc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c6e8c038364565" /><Relationship Type="http://schemas.openxmlformats.org/officeDocument/2006/relationships/image" Target="/ppt/media/image6.jpeg" Id="R8e8010a12a064c94" /><Relationship Type="http://schemas.openxmlformats.org/officeDocument/2006/relationships/image" Target="/ppt/media/image14.png" Id="Rc4c94f1237c04d79" /><Relationship Type="http://schemas.openxmlformats.org/officeDocument/2006/relationships/image" Target="/ppt/media/image15.png" Id="R1de269641ee04acc" /><Relationship Type="http://schemas.openxmlformats.org/officeDocument/2006/relationships/notesSlide" Target="/ppt/notesSlides/notesSlide15.xml" Id="R60ee274060f64b0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aaa0a6dbb14ac9" /><Relationship Type="http://schemas.openxmlformats.org/officeDocument/2006/relationships/image" Target="/ppt/media/image7.jpeg" Id="Rf562cb50b2fc4928" /><Relationship Type="http://schemas.openxmlformats.org/officeDocument/2006/relationships/notesSlide" Target="/ppt/notesSlides/notesSlide16.xml" Id="Ra9d266acc3384ab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当前订阅者</c:v>
          </c:tx>
          <c:spPr>
            <a:solidFill xmlns:a="http://schemas.openxmlformats.org/drawingml/2006/main">
              <a:srgbClr val="DB7A36"/>
            </a:solidFill>
          </c:spPr>
          <c:cat>
            <c:strRef>
              <c:f>'Chart Data'!$A$2:$A$6</c:f>
              <c:strCache>
                <c:ptCount val="5"/>
                <c:pt idx="0">
                  <c:v>Common Sense</c:v>
                </c:pt>
                <c:pt idx="1">
                  <c:v>Better Sorting</c:v>
                </c:pt>
                <c:pt idx="2">
                  <c:v>Autotsar Motorclub</c:v>
                </c:pt>
                <c:pt idx="3">
                  <c:v>Food Preservation Plus</c:v>
                </c:pt>
                <c:pt idx="4">
                  <c:v>防腐剂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3804966</c:v>
                </c:pt>
                <c:pt idx="1">
                  <c:v>3360165</c:v>
                </c:pt>
                <c:pt idx="2">
                  <c:v>2041748</c:v>
                </c:pt>
                <c:pt idx="3">
                  <c:v>230604</c:v>
                </c:pt>
                <c:pt idx="4">
                  <c:v>1480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当前订阅者（Steam Workshop公开截面）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,,&quot;M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6F0E6"/>
        </a:solidFill>
      </c:spPr>
    </c:plotArea>
    <c:plotVisOnly val="1"/>
  </c:chart>
  <c:spPr>
    <a:solidFill xmlns:a="http://schemas.openxmlformats.org/drawingml/2006/main">
      <a:srgbClr val="F6F0E6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折算美元价格</c:v>
          </c:tx>
          <c:spPr>
            <a:solidFill xmlns:a="http://schemas.openxmlformats.org/drawingml/2006/main">
              <a:srgbClr val="DB7A36"/>
            </a:solidFill>
          </c:spPr>
          <c:cat>
            <c:strRef>
              <c:f>'Chart Data'!$A$2:$A$5</c:f>
              <c:strCache>
                <c:ptCount val="4"/>
                <c:pt idx="0">
                  <c:v>美国</c:v>
                </c:pt>
                <c:pt idx="1">
                  <c:v>中国</c:v>
                </c:pt>
                <c:pt idx="2">
                  <c:v>俄罗斯</c:v>
                </c:pt>
                <c:pt idx="3">
                  <c:v>拉美美元区</c:v>
                </c:pt>
              </c:strCache>
            </c:strRef>
          </c:cat>
          <c:val>
            <c:numRef>
              <c:f>'Chart Data'!$B$2:$B$5</c:f>
              <c:numCache>
                <c:formatCode>$0</c:formatCode>
                <c:ptCount val="4"/>
                <c:pt idx="0">
                  <c:v>16.74</c:v>
                </c:pt>
                <c:pt idx="1">
                  <c:v>9.29</c:v>
                </c:pt>
                <c:pt idx="2">
                  <c:v>8.43</c:v>
                </c:pt>
                <c:pt idx="3">
                  <c:v>8.36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促销区服截面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折算美元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$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6F0E6"/>
        </a:solidFill>
      </c:spPr>
    </c:plotArea>
    <c:plotVisOnly val="1"/>
  </c:chart>
  <c:spPr>
    <a:solidFill xmlns:a="http://schemas.openxmlformats.org/drawingml/2006/main">
      <a:srgbClr val="F6F0E6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14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10816eaa31498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F1F269-0209-465F-A67A-AFD7F024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421">
              <a:alpha val="18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5A5D6A-802F-49D6-B3C9-FE6F365E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34000"/>
            </a:srgbClr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938B36-3041-4F8E-8601-B0512F332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00750"/>
            <a:ext cx="12192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58000"/>
            </a:srgbClr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48B958-196E-46DD-AA0D-FA721926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0"/>
            <a:ext cx="3571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A">
              <a:alpha val="18000"/>
            </a:srgbClr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F0BCC9-1EAE-44F8-9633-325B8647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53150"/>
            <a:ext cx="752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rPr>
              <a:t>THE WORLD IS QUIET. THE SYSTEM IS NOT.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B9AD1A-9BF5-44BA-B640-63B833FC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53200"/>
            <a:ext cx="10763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 b="0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rPr>
              <a:t>自制作概念图｜基于《Project Zomboid》马镇教堂场景创作；建筑参考出自The Indie Stone官方Build 42更新资料。</a:t>
            </a:r>
          </a:p>
        </p:txBody>
      </p:sp>
    </p:spTree>
    <p:extLst>
      <p:ext uri="{BB962C8B-B14F-4D97-AF65-F5344CB8AC3E}">
        <p14:creationId xmlns:p14="http://schemas.microsoft.com/office/powerpoint/2010/main" val="1572257036"/>
      </p:ext>
    </p:extLst>
  </p:cSld>
  <p:transition spd="slow" advClick="0" advTm="1800">
    <p:fade/>
  </p:transition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214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610daf2f994a6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51D537-8F28-4983-B226-6BE9B121B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0B08">
              <a:alpha val="8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0E2EAB-7CD5-491C-9021-6B65E7DA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14875"/>
            <a:ext cx="121920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B0E">
              <a:alpha val="76000"/>
            </a:srgbClr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E15536-D5E7-41F8-9838-18045C5AC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05350"/>
            <a:ext cx="7239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7A3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C2F172-DDC9-4924-B8A1-F4ED2288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05375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2B4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2B457"/>
                </a:solidFill>
                <a:latin typeface="Microsoft YaHei"/>
                <a:ea typeface="Microsoft YaHei"/>
                <a:cs typeface="Microsoft YaHei"/>
              </a:rPr>
              <a:t>《Project Zomboid》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EC7513-9FFA-4290-A06B-A3524FAF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0542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Steam商店页与社群营销拆解报告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4F4654-14A9-458D-8AF4-AEF14AA74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81700"/>
            <a:ext cx="8191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rPr>
              <a:t>硬核生存品类的全球化发行与社区运营密码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E5A34C-2B26-43D3-93B7-2C96FC96E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60293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张铧心  ·  2026年10月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38231B-8D9B-4200-B00A-D1644BF4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10763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自制作概念图｜基于《Project Zomboid》马镇教堂场景创作；建筑参考出自The Indie Stone官方Build 42更新资料。</a:t>
            </a:r>
          </a:p>
        </p:txBody>
      </p:sp>
    </p:spTree>
    <p:extLst>
      <p:ext uri="{BB962C8B-B14F-4D97-AF65-F5344CB8AC3E}">
        <p14:creationId xmlns:p14="http://schemas.microsoft.com/office/powerpoint/2010/main" val="1715861429"/>
      </p:ext>
    </p:extLst>
  </p:cSld>
  <p:transition spd="slow">
    <p:fade/>
  </p:transition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E23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ABB8209-596B-4DB9-8F21-BFD3FBAC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7A3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CB1E89-D7F8-4EF6-A23C-722160CC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DB7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B7A36"/>
                </a:solidFill>
                <a:latin typeface="Microsoft YaHei"/>
                <a:ea typeface="Microsoft YaHei"/>
                <a:cs typeface="Microsoft YaHei"/>
              </a:rPr>
              <a:t>EXECUTIVE 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F0E886-0A7B-439D-BC2F-08EF88201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rPr>
              <a:t>结论先行：深度、真实与共创，构成长线增长飞轮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5A4A49-2607-470C-8079-454C5E6EA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公开网页与API数据截面：2026年10月5日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F91AC1-4437-421B-950F-FEE09781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1095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7A3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BD3365-5B5A-44A3-AF6B-0E81C40B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6002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26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1DDD67-3C4E-4CA2-A72C-E3B57CB6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579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5821B1-051D-4735-9B4C-03EB323C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2571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333A4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FB6EF9-E085-45DD-BD1B-DC93528A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57150" cy="990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7A3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C85D14-D9D7-45C6-9570-F0B85E0AF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226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59,119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897B15-892C-4F30-850B-B960CA31D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86025"/>
            <a:ext cx="2266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rPr>
              <a:t>截面同时在线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95DE00-52EA-47FC-BAF4-A6E719F3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14625"/>
            <a:ext cx="2266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SteamDB公开嵌入图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1BAE29-0DEE-4B3F-AD85-CEC7C5A50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952625"/>
            <a:ext cx="2571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333A4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D4B415-5159-4C9A-85BF-3100F25E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952625"/>
            <a:ext cx="57150" cy="990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B332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65E2E8-BAAA-4BF5-8E8D-88E2DC00E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095500"/>
            <a:ext cx="226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124,995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4F2A91-EA4E-4B66-8544-DE1A4BC6E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486025"/>
            <a:ext cx="2266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rPr>
              <a:t>历史峰值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99A7E4-D4DF-4B10-99A7-6765A2A2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714625"/>
            <a:ext cx="2266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2026年8月9日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5A5D26-C7CF-4DAD-A36C-A76B5F0F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52625"/>
            <a:ext cx="2571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333A43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4E6876-6DFF-4196-B1C3-9DC939F1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52625"/>
            <a:ext cx="57150" cy="990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05F7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74FC69-DF81-45E2-9CF0-B844BC5F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95500"/>
            <a:ext cx="226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92.9%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7439B7-6B30-4FC3-8BBF-46A270FBB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86025"/>
            <a:ext cx="2266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rPr>
              <a:t>SteamDB评分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FFFAEF-F93C-4E48-88D5-CE8D4D65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14625"/>
            <a:ext cx="2266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约48.6万条评测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728C07-2359-4C2A-A50B-2A0F6E98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1952625"/>
            <a:ext cx="2571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333A4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4A07F3-4A54-4DB2-86DB-E83236A81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1952625"/>
            <a:ext cx="57150" cy="990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7C5B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811DB0-69F6-4F19-8754-7726647D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095500"/>
            <a:ext cx="226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66,070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8E5E59-5975-454B-BF78-C74D4D31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486025"/>
            <a:ext cx="2266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rPr>
              <a:t>Workshop物品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6E689E-D69A-4D9B-9A1D-B9D8AEE1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714625"/>
            <a:ext cx="2266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检索截面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A7A1C2-3C4D-47EF-A2F9-C373DA674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67075"/>
            <a:ext cx="3467100" cy="24574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282E35"/>
          </a:solidFill>
          <a:ln xmlns:a="http://schemas.openxmlformats.org/drawingml/2006/main" w="9525">
            <a:solidFill>
              <a:srgbClr val="4A5058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5FFF5F-FF74-4BA4-9F0C-1A58E7D1C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67075"/>
            <a:ext cx="66675" cy="2457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B332E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74914C-C46B-4B1C-B368-4572073B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19475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9B3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9B332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268F6A-84EE-46EC-BA8F-04FE6667D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38525"/>
            <a:ext cx="259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rPr>
              <a:t>产品定位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849F2F-C6D0-48F7-A322-A9BE99C1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76675"/>
            <a:ext cx="30099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88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核心卖点不是画面，而是极其深度的生存模拟系统。近乎偏执的真实感，建立了难以替代的差异化定位。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C1D6AA-99D2-4AC4-A642-CF63A57A7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267075"/>
            <a:ext cx="3467100" cy="24574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282E35"/>
          </a:solidFill>
          <a:ln xmlns:a="http://schemas.openxmlformats.org/drawingml/2006/main" w="9525">
            <a:solidFill>
              <a:srgbClr val="4A5058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BC41AE-D6D4-469E-B243-DAB8B6A51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267075"/>
            <a:ext cx="66675" cy="2457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7A36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E8CBE62-7D1D-4D45-BDEA-19BDC884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419475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DB7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DB7A3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5D494A0-DB71-4A50-91DC-E8F48BAA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438525"/>
            <a:ext cx="259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rPr>
              <a:t>商店页转化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E3B8212-FA48-4D2F-B2C7-B0BB7991A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876675"/>
            <a:ext cx="30099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88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实机演示、精准标签与真实口碑共同筛选硬核玩家。“玩起来是什么样”比“看起来什么样”更有转化力。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D745FAA-681A-4FE6-AF38-CE3F022E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67075"/>
            <a:ext cx="3419475" cy="24574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282E35"/>
          </a:solidFill>
          <a:ln xmlns:a="http://schemas.openxmlformats.org/drawingml/2006/main" w="9525">
            <a:solidFill>
              <a:srgbClr val="4A5058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E7ACF4E-FDAE-4349-BCB0-223DEAE5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67075"/>
            <a:ext cx="66675" cy="2457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05F78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755D4AC-FB3E-496C-BEFD-271970B99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19475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405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405F7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3C2CBCE-6726-4986-8F2B-9037E66D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438525"/>
            <a:ext cx="25431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rPr>
              <a:t>社区与UGC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408D395-E754-4DAE-96F5-6BE8A8EB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76675"/>
            <a:ext cx="29622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88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Discord承接反馈，Workshop承接创作。玩家不是被动等待更新，而是在参与游戏的进化过程。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16CAD0A-9A62-4325-A68D-8B23B313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0668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来源：SteamDB、Steam Store、Steam Workshop、The Indie Stone官方站点；访问日期：2026年10月5日。</a:t>
            </a:r>
          </a:p>
        </p:txBody>
      </p:sp>
    </p:spTree>
    <p:extLst>
      <p:ext uri="{BB962C8B-B14F-4D97-AF65-F5344CB8AC3E}">
        <p14:creationId xmlns:p14="http://schemas.microsoft.com/office/powerpoint/2010/main" val="11857464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E23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0BB98E-3F56-4A2B-B62D-20A54CEE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7A3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01AC5C-5273-426D-A342-B6A8B3C9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DB7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B7A36"/>
                </a:solidFill>
                <a:latin typeface="Microsoft YaHei"/>
                <a:ea typeface="Microsoft YaHei"/>
                <a:cs typeface="Microsoft YaHei"/>
              </a:rPr>
              <a:t>01 / PRODUCT POSITIONING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D9D8DC-70B4-4248-9E8A-5041E3AC6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rPr>
              <a:t>一、产品与市场定位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5D941E-6200-470D-9126-2BCD4C5D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用“近乎偏执的真实感”建立不可替代的品类心智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B67338-95BF-4D26-B29C-6D6D8843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1095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7A3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CCC06D-FEB7-4BF1-8310-5785E31E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6002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26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E8DAE1-C672-45D4-A5F3-7B70774F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579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b93e1514844a14"/>
          <a:srcRect xmlns:a="http://schemas.openxmlformats.org/drawingml/2006/main" l="1982" t="0" r="198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924050"/>
            <a:ext cx="4000500" cy="2343150"/>
          </a:xfrm>
          <a:prstGeom xmlns:a="http://schemas.openxmlformats.org/drawingml/2006/main" prst="roundRect">
            <a:avLst>
              <a:gd name="adj" fmla="val 4878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E36E52-44FA-43C1-BA62-6F3675BB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4000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出自Steam《Project Zomboid》官方商店页截图，访问日期：2026年10月5日。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6FE8BF-40F7-40D7-89A4-5E3B71368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2405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DB7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B7A36"/>
                </a:solidFill>
                <a:latin typeface="Microsoft YaHei"/>
                <a:ea typeface="Microsoft YaHei"/>
                <a:cs typeface="Microsoft YaHei"/>
              </a:rPr>
              <a:t>1.1 核心卖点提炼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804E61-373C-419D-9176-7DCEE863E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05050"/>
            <a:ext cx="647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《Project Zomboid》由英国独立工作室 The Indie Stone 开发，2013年11月在Steam开启抢先体验，至今持续更新超过十年。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DBCC1E-EADB-43B7-B339-1C21DD91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952750"/>
            <a:ext cx="647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rPr>
              <a:t>它的核心卖点不是画面，而是极其深度的生存模拟系统。玩家需要管理饥饿、口渴、疲劳、情绪、伤病甚至无聊感，同时建造庇护所、搜集资源、对抗僵尸。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4F8194-FFFA-40FE-BA98-005058D7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857625"/>
            <a:ext cx="647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88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所有资源都有腐烂时间、所有技能都需要反复练习才能提升。这种近乎偏执的真实感，让它形成了难以替代的差异化定位。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368D98-4210-4EBA-8EA0-0246C1CA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0"/>
            <a:ext cx="15240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DB7A3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8CF245-8FBC-4C94-AF22-5A8063F2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43475"/>
            <a:ext cx="1371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资源采集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F6281D-F507-4206-B635-5A4523B6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953000"/>
            <a:ext cx="219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E5D131-4F7C-4CFC-B034-B5041A358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4762500"/>
            <a:ext cx="15240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9B332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DADA6C-317D-4A81-BFC8-5A198049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943475"/>
            <a:ext cx="1371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建造基地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854576-86D5-470B-A8FC-C92189F92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953000"/>
            <a:ext cx="219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7D3403-1147-4F14-AFEE-D280B2A01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762500"/>
            <a:ext cx="15240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405F7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65EA5C-6967-4445-B8AE-A2150A6A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943475"/>
            <a:ext cx="1371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应对威胁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FB2279-3461-491B-90F2-33AF2E364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953000"/>
            <a:ext cx="219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9463B8-1823-4B11-9588-FB59F9D5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762500"/>
            <a:ext cx="15240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667C5B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F6FE9D-B1DF-4E7B-A668-6BCCC6F27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943475"/>
            <a:ext cx="1371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探索地图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D97DDF-6F2D-45B8-9784-795FE166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953000"/>
            <a:ext cx="219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5F632B-97A2-44BB-90B3-BBAF12B6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762500"/>
            <a:ext cx="15240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9B332E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6F469B-499F-4F76-977C-48D5C6BC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943475"/>
            <a:ext cx="1371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死亡复盘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576B33-48C6-44F6-BC23-747F90C2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953000"/>
            <a:ext cx="219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0429F6-174B-4712-8877-AFF1665F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4762500"/>
            <a:ext cx="15240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DB7A36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7608AB-F097-4F70-8C3C-B3D4267A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4943475"/>
            <a:ext cx="1371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技能与知识积累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365BD2-5238-4E36-AAA6-0E11432FC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57825"/>
            <a:ext cx="1080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F2B4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F2B457"/>
                </a:solidFill>
                <a:latin typeface="Microsoft YaHei"/>
                <a:ea typeface="Microsoft YaHei"/>
                <a:cs typeface="Microsoft YaHei"/>
              </a:rPr>
              <a:t>↺ 回到资源采集｜死亡不是终点，是下一次生存的知识资产。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240E88-8E46-4764-8AF2-B6550D69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29300"/>
            <a:ext cx="108013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9B332E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5405B1-C4A9-429A-8A9F-B29948C98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934075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定位判断：这不是一款用画面吸引所有人的产品，而是一款用系统深度筛选核心玩家、再用长线内容不断加深关系的产品。</a:t>
            </a:r>
          </a:p>
        </p:txBody>
      </p:sp>
    </p:spTree>
    <p:extLst>
      <p:ext uri="{BB962C8B-B14F-4D97-AF65-F5344CB8AC3E}">
        <p14:creationId xmlns:p14="http://schemas.microsoft.com/office/powerpoint/2010/main" val="2229768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E23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589259-3027-472D-B7CC-0E86FF9B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7A3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1BAA0C-84BE-409B-AD8A-774B3F86F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DB7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B7A36"/>
                </a:solidFill>
                <a:latin typeface="Microsoft YaHei"/>
                <a:ea typeface="Microsoft YaHei"/>
                <a:cs typeface="Microsoft YaHei"/>
              </a:rPr>
              <a:t>02 / MARKET PERFORMANCE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720619-1CDE-4142-8CEA-C20B7E8B8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rPr>
              <a:t>十年以上抢先体验，仍然维持高在线与高评测密度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A0F9EB-0E96-4847-9A00-584EBFE82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在线曲线是长生命周期与版本更新共同作用的结果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FAC484-E18C-4FB5-9FF4-487DE04C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1095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7A3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A9E570-1D0B-4C55-94D3-3D1A16D1C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6002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26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2F6417-99BE-4B15-AE06-D779F125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579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b25c852bbb4df3"/>
          <a:stretch xmlns:a="http://schemas.openxmlformats.org/drawingml/2006/main"/>
        </p:blipFill>
        <p:spPr>
          <a:xfrm xmlns:a="http://schemas.openxmlformats.org/drawingml/2006/main">
            <a:off x="2001116" y="1905000"/>
            <a:ext cx="4551218" cy="3476625"/>
          </a:xfrm>
          <a:prstGeom xmlns:a="http://schemas.openxmlformats.org/drawingml/2006/main" prst="roundRect">
            <a:avLst>
              <a:gd name="adj" fmla="val 3288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22C541-AD26-4D24-B01C-824865385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57825"/>
            <a:ext cx="7524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出自SteamDB《Project Zomboid》公开图表嵌入页，访问日期：2026年10月5日；在线数据会实时变化。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E0A136-3103-4B61-A796-E1A68604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33575"/>
            <a:ext cx="2952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333A4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0F95BB-F575-49C2-8B4E-9D3A8847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33575"/>
            <a:ext cx="57150" cy="990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7A3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719FC4-4AAC-42E5-B78F-F9759DBB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76450"/>
            <a:ext cx="2647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59,119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61D4B7-0787-4B7C-8C4A-E6F7FC0F6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66975"/>
            <a:ext cx="2647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rPr>
              <a:t>截面同时在线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A6CAAD-7B2A-4B4C-9B30-23DAAA09E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95575"/>
            <a:ext cx="2647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公开嵌入图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462807-391C-40E4-B321-D8B505016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76575"/>
            <a:ext cx="2952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333A4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8F1B94-E3D5-40F5-B5B6-CF22B409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76575"/>
            <a:ext cx="57150" cy="990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B332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9E1A5E-407B-4A3F-9356-E3E4B78C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19450"/>
            <a:ext cx="2647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82,316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3E5BF4-487A-44A4-9C6C-B8414001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609975"/>
            <a:ext cx="2647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rPr>
              <a:t>24小时峰值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D9CB86-9064-4042-A418-F4BD39B10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838575"/>
            <a:ext cx="2647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截面值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D1AB0F-271D-4640-824B-A6C9C756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19575"/>
            <a:ext cx="2952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333A43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46755A-345D-4614-BD2F-9304CA5F1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19575"/>
            <a:ext cx="57150" cy="990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05F7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F32354-B0AB-4F52-B879-3F877095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362450"/>
            <a:ext cx="2647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124,995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6F7D1C-4A7D-43E4-838B-4B2745BE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752975"/>
            <a:ext cx="2647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rPr>
              <a:t>历史峰值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9A1DA7-B3E5-46C9-B291-C7ACF553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981575"/>
            <a:ext cx="2647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2026-08-09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759FB4-A5CE-4A3A-AAFA-84E3BC7A5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38825"/>
            <a:ext cx="108013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121417"/>
          </a:solidFill>
          <a:ln xmlns:a="http://schemas.openxmlformats.org/drawingml/2006/main" w="9525">
            <a:solidFill>
              <a:srgbClr val="4C535B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790C16-6271-471F-AFE1-6EAF16E86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62650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rPr>
              <a:t>判断：一款已经发售超过十年的独立游戏，仍能在大版本周期中重新抬高峰值，说明其核心系统、内容扩展与社区回流机制形成了长期复利。</a:t>
            </a:r>
          </a:p>
        </p:txBody>
      </p:sp>
    </p:spTree>
    <p:extLst>
      <p:ext uri="{BB962C8B-B14F-4D97-AF65-F5344CB8AC3E}">
        <p14:creationId xmlns:p14="http://schemas.microsoft.com/office/powerpoint/2010/main" val="4921773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E23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4CCB03E-4132-447B-B119-FD80B967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7A3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176C2E-FCB7-4477-86B6-3C14B27EC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DB7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B7A36"/>
                </a:solidFill>
                <a:latin typeface="Microsoft YaHei"/>
                <a:ea typeface="Microsoft YaHei"/>
                <a:cs typeface="Microsoft YaHei"/>
              </a:rPr>
              <a:t>03 / AUDIENCE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020BCC-3411-48E2-8EE0-654D48DBF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rPr>
              <a:t>核心用户：愿意研究系统、承受失败、参与共创的硬核PC玩家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E78580-B588-45AC-B41B-92B28480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画像基于Steam评测、公开数据与社区观察，并非平台官方人口统计结论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335E7C-3092-4FC4-BA94-C3B1EBDF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1095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7A3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7A73DD-8B67-4410-8F0E-AB0A4B53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6002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26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379F19-D8A4-4AEA-91A1-1A835C632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579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fbf4c756d1407f"/>
          <a:srcRect xmlns:a="http://schemas.openxmlformats.org/drawingml/2006/main" l="0" t="15784" r="0" b="157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952625"/>
            <a:ext cx="3619500" cy="1476375"/>
          </a:xfrm>
          <a:prstGeom xmlns:a="http://schemas.openxmlformats.org/drawingml/2006/main" prst="roundRect">
            <a:avLst>
              <a:gd name="adj" fmla="val 6452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758FA5-46DB-44E8-8808-39ED52A2D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95675"/>
            <a:ext cx="3619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作者提供的Steam个人主页截图，展示342小时游玩记录、徽章与创意工坊身份。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92733a6cd14f74"/>
          <a:stretch xmlns:a="http://schemas.openxmlformats.org/drawingml/2006/main"/>
        </p:blipFill>
        <p:spPr>
          <a:xfrm xmlns:a="http://schemas.openxmlformats.org/drawingml/2006/main">
            <a:off x="4362450" y="2071964"/>
            <a:ext cx="3381375" cy="1237697"/>
          </a:xfrm>
          <a:prstGeom xmlns:a="http://schemas.openxmlformats.org/drawingml/2006/main" prst="roundRect">
            <a:avLst>
              <a:gd name="adj" fmla="val 6452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F6C36A-921C-4C12-9342-69019F26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495675"/>
            <a:ext cx="33813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Steam最有价值英文评测：5,052人认为有用；访问日期：2026年10月7日。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12066b56ab4420"/>
          <a:srcRect xmlns:a="http://schemas.openxmlformats.org/drawingml/2006/main" l="0" t="21096" r="0" b="210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72425" y="1952625"/>
            <a:ext cx="3343275" cy="1476375"/>
          </a:xfrm>
          <a:prstGeom xmlns:a="http://schemas.openxmlformats.org/drawingml/2006/main" prst="roundRect">
            <a:avLst>
              <a:gd name="adj" fmla="val 6452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534872-A23E-4190-919F-1CA78891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495675"/>
            <a:ext cx="33432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Discord官方公开页：约23.6万成员；访问日期：2026年10月7日。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690C51-8526-4412-8F46-6484229C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57625"/>
            <a:ext cx="2543175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282E35"/>
          </a:solidFill>
          <a:ln xmlns:a="http://schemas.openxmlformats.org/drawingml/2006/main" w="9525">
            <a:solidFill>
              <a:srgbClr val="4A505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06F6E7-C1F7-4041-883F-C8FAC3DBC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57625"/>
            <a:ext cx="66675" cy="1581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B332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5B30CE-0A44-4A53-B0D3-4220F67E0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0025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9B3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9B332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EF1150-D905-4485-9DD9-99EF76CDE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29075"/>
            <a:ext cx="1666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rPr>
              <a:t>偏好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AF86A9-E190-4E19-A438-39A0D63D2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67225"/>
            <a:ext cx="20859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88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策略、模拟经营、沙盒生存与Roguelike；不追求短促爽感，享受规划资源和制定策略。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F431B7-A128-48A3-82D4-B268CABD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857625"/>
            <a:ext cx="2543175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282E35"/>
          </a:solidFill>
          <a:ln xmlns:a="http://schemas.openxmlformats.org/drawingml/2006/main" w="9525">
            <a:solidFill>
              <a:srgbClr val="4A505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4AA80F-E7DD-455B-AE49-48CDBFB5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857625"/>
            <a:ext cx="66675" cy="1581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7A3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12CB7C-5CC0-4052-A25B-37C046B0E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010025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DB7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DB7A3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B95950-547C-44C2-A5B9-1E860ABE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029075"/>
            <a:ext cx="1666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rPr>
              <a:t>行为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A1B687-5684-4AB0-A62E-2D7853D32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467225"/>
            <a:ext cx="20859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88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长时游玩、查攻略、多人协作、反复复盘；愿意花时间研究底层机制。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D60C0A-40B0-481F-85B5-F6607134E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57625"/>
            <a:ext cx="2543175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282E35"/>
          </a:solidFill>
          <a:ln xmlns:a="http://schemas.openxmlformats.org/drawingml/2006/main" w="9525">
            <a:solidFill>
              <a:srgbClr val="4A505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7003CA-5F98-467D-9476-416BA3D4B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57625"/>
            <a:ext cx="66675" cy="1581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05F78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A75E5F-A5B6-4BB3-AEE4-ED797B5AA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10025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405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405F7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7409F4-3370-41B7-9F55-06C3C7F3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29075"/>
            <a:ext cx="1666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rPr>
              <a:t>动机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A20854-E0DF-4D01-A8FF-543391B6E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67225"/>
            <a:ext cx="20859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88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在高压环境下逐渐建立掌控感；死亡不是失败终点，而是下一次生存的知识资产。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CC48E8-AA8C-4907-8CC5-927AE5B39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3857625"/>
            <a:ext cx="2543175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282E35"/>
          </a:solidFill>
          <a:ln xmlns:a="http://schemas.openxmlformats.org/drawingml/2006/main" w="9525">
            <a:solidFill>
              <a:srgbClr val="4A5058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5A4C92-F489-49E6-9570-F5DE0638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3857625"/>
            <a:ext cx="66675" cy="1581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7C5B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9FFC4C-CDBD-48F1-A526-ADD3A164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010025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667C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667C5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C6AF32-79CB-48FD-8153-849ECB23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029075"/>
            <a:ext cx="1666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rPr>
              <a:t>社区角色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7FBE8E-936C-4B0C-AEA9-32958CC6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467225"/>
            <a:ext cx="20859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88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从消费者变成测试者、答疑者、服务器组织者，甚至亲手制作模组。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340E03-3155-4E35-ACCA-4B64184F3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81650"/>
            <a:ext cx="10801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数据支撑：近50万条Steam评测，约93%好评；俄语评测约13.85%，西班牙语合计约15.15%；官方Discord成员超过23万。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B966056-129B-4E6C-8BB8-D2AF30FD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43600"/>
            <a:ext cx="1080135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9B332E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800CAFD-74A7-4C7B-8845-95404119A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038850"/>
            <a:ext cx="1040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核心判断：用户不是被“讨好”的，而是被高密度系统与高自由度长期留下来的。</a:t>
            </a:r>
          </a:p>
        </p:txBody>
      </p:sp>
    </p:spTree>
    <p:extLst>
      <p:ext uri="{BB962C8B-B14F-4D97-AF65-F5344CB8AC3E}">
        <p14:creationId xmlns:p14="http://schemas.microsoft.com/office/powerpoint/2010/main" val="9577303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E23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FFF4FC7-B882-473B-B87D-07AFD654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7A3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0DD557-EA0A-4928-9B6B-6F24EE6A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DB7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B7A36"/>
                </a:solidFill>
                <a:latin typeface="Microsoft YaHei"/>
                <a:ea typeface="Microsoft YaHei"/>
                <a:cs typeface="Microsoft YaHei"/>
              </a:rPr>
              <a:t>04 / STORE PAGE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048AA4-8D5A-48BA-B467-3E8BAAFBE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rPr>
              <a:t>Steam商店页：先让玩家看懂，再让标签找到对的人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2B13F0-512F-4549-8DCE-8538343C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复古像素画面不回避，系统深度与实机压力被放在第一优先级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2357BD-32AE-4004-8374-86834E2B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1095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7A3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E5A783-4950-4482-9E20-E627374A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6002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26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DD5789-57AB-4DDB-9B77-729921737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579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ddd506477a4684"/>
          <a:srcRect xmlns:a="http://schemas.openxmlformats.org/drawingml/2006/main" l="0" t="16678" r="0" b="166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924050"/>
            <a:ext cx="7334250" cy="3733800"/>
          </a:xfrm>
          <a:prstGeom xmlns:a="http://schemas.openxmlformats.org/drawingml/2006/main" prst="roundRect">
            <a:avLst>
              <a:gd name="adj" fmla="val 3061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7608EC-7683-48C1-960C-9865C8E5F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7334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出自Steam《Project Zomboid》官方商店页，访问日期：2026年10月5日。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80AE09-9D6A-47A5-894E-2B5E981DD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DB7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B7A36"/>
                </a:solidFill>
                <a:latin typeface="Microsoft YaHei"/>
                <a:ea typeface="Microsoft YaHei"/>
                <a:cs typeface="Microsoft YaHei"/>
              </a:rPr>
              <a:t>标签组合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692AE9-1913-4DF9-BA34-E89D83EDD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33625"/>
            <a:ext cx="1409700" cy="352425"/>
          </a:xfrm>
          <a:prstGeom xmlns:a="http://schemas.openxmlformats.org/drawingml/2006/main" prst="roundRect">
            <a:avLst>
              <a:gd name="adj" fmla="val 24324"/>
            </a:avLst>
          </a:prstGeom>
          <a:solidFill xmlns:a="http://schemas.openxmlformats.org/drawingml/2006/main">
            <a:srgbClr val="9B332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C3D618-7E43-4362-8535-60EF1750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41935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Survival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1BB935-AA88-4833-89AF-70030CA6F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333625"/>
            <a:ext cx="1409700" cy="352425"/>
          </a:xfrm>
          <a:prstGeom xmlns:a="http://schemas.openxmlformats.org/drawingml/2006/main" prst="roundRect">
            <a:avLst>
              <a:gd name="adj" fmla="val 24324"/>
            </a:avLst>
          </a:prstGeom>
          <a:solidFill xmlns:a="http://schemas.openxmlformats.org/drawingml/2006/main">
            <a:srgbClr val="9B332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6540C2-DDFB-471F-8D3A-59F3070E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41935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Zombies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23ED7E-EACF-4776-B224-88407072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00350"/>
            <a:ext cx="1409700" cy="352425"/>
          </a:xfrm>
          <a:prstGeom xmlns:a="http://schemas.openxmlformats.org/drawingml/2006/main" prst="roundRect">
            <a:avLst>
              <a:gd name="adj" fmla="val 24324"/>
            </a:avLst>
          </a:prstGeom>
          <a:solidFill xmlns:a="http://schemas.openxmlformats.org/drawingml/2006/main">
            <a:srgbClr val="9B332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FD241C-8E94-46C8-8936-DB5BCF39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8860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Open World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83AD96-E347-433C-B64E-A80DD3B6A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800350"/>
            <a:ext cx="1409700" cy="352425"/>
          </a:xfrm>
          <a:prstGeom xmlns:a="http://schemas.openxmlformats.org/drawingml/2006/main" prst="roundRect">
            <a:avLst>
              <a:gd name="adj" fmla="val 24324"/>
            </a:avLst>
          </a:prstGeom>
          <a:solidFill xmlns:a="http://schemas.openxmlformats.org/drawingml/2006/main">
            <a:srgbClr val="9B332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E3F143-5CF2-4173-AFA7-0AAD9A822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8860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Multiplayer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6669EE-D8ED-491A-864F-81DEFC9F9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267075"/>
            <a:ext cx="1409700" cy="352425"/>
          </a:xfrm>
          <a:prstGeom xmlns:a="http://schemas.openxmlformats.org/drawingml/2006/main" prst="roundRect">
            <a:avLst>
              <a:gd name="adj" fmla="val 24324"/>
            </a:avLst>
          </a:prstGeom>
          <a:solidFill xmlns:a="http://schemas.openxmlformats.org/drawingml/2006/main">
            <a:srgbClr val="405F7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4C28DD-2AF9-46EB-BC38-308B3890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35280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Sandbox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6B1C5B-4C49-41FC-BF3F-10EA8440A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267075"/>
            <a:ext cx="1409700" cy="352425"/>
          </a:xfrm>
          <a:prstGeom xmlns:a="http://schemas.openxmlformats.org/drawingml/2006/main" prst="roundRect">
            <a:avLst>
              <a:gd name="adj" fmla="val 24324"/>
            </a:avLst>
          </a:prstGeom>
          <a:solidFill xmlns:a="http://schemas.openxmlformats.org/drawingml/2006/main">
            <a:srgbClr val="405F7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736693-868D-4386-8AED-8B71757B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35280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Crafting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2832C1-875B-4481-94FC-BA829EB3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733800"/>
            <a:ext cx="1409700" cy="352425"/>
          </a:xfrm>
          <a:prstGeom xmlns:a="http://schemas.openxmlformats.org/drawingml/2006/main" prst="roundRect">
            <a:avLst>
              <a:gd name="adj" fmla="val 24324"/>
            </a:avLst>
          </a:prstGeom>
          <a:solidFill xmlns:a="http://schemas.openxmlformats.org/drawingml/2006/main">
            <a:srgbClr val="405F7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31DAEC-4E0E-4095-9BA9-DEA15FD4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81952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Simulation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5DF6E8-6500-4F99-80CA-4835A101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733800"/>
            <a:ext cx="1409700" cy="352425"/>
          </a:xfrm>
          <a:prstGeom xmlns:a="http://schemas.openxmlformats.org/drawingml/2006/main" prst="roundRect">
            <a:avLst>
              <a:gd name="adj" fmla="val 24324"/>
            </a:avLst>
          </a:prstGeom>
          <a:solidFill xmlns:a="http://schemas.openxmlformats.org/drawingml/2006/main">
            <a:srgbClr val="405F78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A68150-42E8-4FB7-8DB0-C6BAC9BA0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81952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RPG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6B6C0B-1974-4998-8C38-BBBA28FB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362450"/>
            <a:ext cx="3076575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282E35"/>
          </a:solidFill>
          <a:ln xmlns:a="http://schemas.openxmlformats.org/drawingml/2006/main" w="9525">
            <a:solidFill>
              <a:srgbClr val="4A505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92661D-84E2-4C1C-BE38-34FA1AC7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362450"/>
            <a:ext cx="66675" cy="1295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7A36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021C1E-263B-45A6-894B-BC9BEFAA5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533900"/>
            <a:ext cx="2638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rPr>
              <a:t>简介策略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44830A-C35B-4431-B575-2BEB14F6D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972050"/>
            <a:ext cx="261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88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不堆砌华丽辞藻，直接告诉玩家要管理需求、建造基地、搜集资源并反复死亡。直白文案筛选出真正喜欢硬核生存的玩家。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709767-E4B0-4C9D-8AB8-6ED98B075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734050"/>
            <a:ext cx="30765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标签与简介均来自Steam官方商店页；访问日期：2026年10月5日。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E1F304-90EA-4D6F-AB09-B058B9B5D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81700"/>
            <a:ext cx="10801350" cy="36195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9B332E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E4DC7E-3B9B-406C-A28D-4FFE82BC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067425"/>
            <a:ext cx="104013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核心洞察：商店页转化取决于标签是否精准匹配核心受众、实机是否真实呈现核心玩法；对硬核品类，“玩起来是什么样”更有转化力。</a:t>
            </a:r>
          </a:p>
        </p:txBody>
      </p:sp>
    </p:spTree>
    <p:extLst>
      <p:ext uri="{BB962C8B-B14F-4D97-AF65-F5344CB8AC3E}">
        <p14:creationId xmlns:p14="http://schemas.microsoft.com/office/powerpoint/2010/main" val="4484691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E23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56DA6A-B530-4D61-9CA8-E4EA201E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7A3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90FA70-5176-43AA-9B9B-3425F089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DB7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B7A36"/>
                </a:solidFill>
                <a:latin typeface="Microsoft YaHei"/>
                <a:ea typeface="Microsoft YaHei"/>
                <a:cs typeface="Microsoft YaHei"/>
              </a:rPr>
              <a:t>05 / VISUAL STRATEGY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C93817-991B-4724-B969-9E7C1201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rPr>
              <a:t>实机画面不是“素材不足”，而是对核心玩家的承诺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A30E83-BB47-4BE5-9922-D0C9F36D7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围堵、黑暗、建造、车辆与多人协作，共同回答“玩起来是什么样”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7120D6-7582-47B2-9BBB-2E5563ED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1095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7A3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721087-C11B-48C1-A332-6A67B145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6002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26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BFF856-C585-4A9E-8A57-B8246A63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579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bb4a502d0e4282"/>
          <a:srcRect xmlns:a="http://schemas.openxmlformats.org/drawingml/2006/main" l="0" t="19880" r="0" b="198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952625"/>
            <a:ext cx="5143500" cy="1657350"/>
          </a:xfrm>
          <a:prstGeom xmlns:a="http://schemas.openxmlformats.org/drawingml/2006/main" prst="roundRect">
            <a:avLst>
              <a:gd name="adj" fmla="val 5747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517722-C367-4EC5-BB89-98AF5315B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6600"/>
            <a:ext cx="5143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70000"/>
            </a:srgbClr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E2206D-242C-4037-9558-5C479B6C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623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大规模尸潮与火场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85D931-A5C7-4630-A4A7-79700500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371850"/>
            <a:ext cx="1485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出自Steam官方商店页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7e268fcbd6482d"/>
          <a:srcRect xmlns:a="http://schemas.openxmlformats.org/drawingml/2006/main" l="0" t="21330" r="0" b="213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43600" y="1952625"/>
            <a:ext cx="5143500" cy="1657350"/>
          </a:xfrm>
          <a:prstGeom xmlns:a="http://schemas.openxmlformats.org/drawingml/2006/main" prst="roundRect">
            <a:avLst>
              <a:gd name="adj" fmla="val 5747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892B80-AC38-4B94-8879-B5F3AE1C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276600"/>
            <a:ext cx="5143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70000"/>
            </a:srgbClr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32D091-7372-4EF2-8F70-143039D3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3623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雨夜近身战斗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1BD0EE-F1ED-45DF-9D67-E63A0B7A9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371850"/>
            <a:ext cx="1485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出自Steam官方商店页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23b489d1c9439f"/>
          <a:srcRect xmlns:a="http://schemas.openxmlformats.org/drawingml/2006/main" l="0" t="19584" r="0" b="195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4095750"/>
            <a:ext cx="5143500" cy="1657350"/>
          </a:xfrm>
          <a:prstGeom xmlns:a="http://schemas.openxmlformats.org/drawingml/2006/main" prst="roundRect">
            <a:avLst>
              <a:gd name="adj" fmla="val 5747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B3C2C2-64C6-4A12-92FD-C6294D125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19725"/>
            <a:ext cx="5143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70000"/>
            </a:srgbClr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23524E-843E-4052-8FBD-41634B31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车辆维修系统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FE754D-31AE-4C19-A499-633C6891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514975"/>
            <a:ext cx="1485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出自Steam官方商店页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a395e11e174af1"/>
          <a:srcRect xmlns:a="http://schemas.openxmlformats.org/drawingml/2006/main" l="0" t="19584" r="0" b="195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43600" y="4095750"/>
            <a:ext cx="5143500" cy="1657350"/>
          </a:xfrm>
          <a:prstGeom xmlns:a="http://schemas.openxmlformats.org/drawingml/2006/main" prst="roundRect">
            <a:avLst>
              <a:gd name="adj" fmla="val 5747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77F126-4B42-4881-A933-891334EF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419725"/>
            <a:ext cx="5143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70000"/>
            </a:srgbClr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B7602C-325A-48D4-BEDB-4D7B2E3D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5054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多人建造与协作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7C792B-903D-431E-A321-E7DA0784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514975"/>
            <a:ext cx="1485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出自Steam官方商店页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CBDA2D-CB0E-4003-B866-6435C625E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38875"/>
            <a:ext cx="10572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9B332E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5870D4-F18C-4D64-9554-0EEE905B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3055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对于硬核品类，“玩起来是什么样”比“看起来什么样”更有转化力。</a:t>
            </a:r>
          </a:p>
        </p:txBody>
      </p:sp>
    </p:spTree>
    <p:extLst>
      <p:ext uri="{BB962C8B-B14F-4D97-AF65-F5344CB8AC3E}">
        <p14:creationId xmlns:p14="http://schemas.microsoft.com/office/powerpoint/2010/main" val="5142370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E23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55148B-63F9-4F1C-A6BF-E893BFC5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7A3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A1F168-EE8C-4418-A629-82034524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DB7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B7A36"/>
                </a:solidFill>
                <a:latin typeface="Microsoft YaHei"/>
                <a:ea typeface="Microsoft YaHei"/>
                <a:cs typeface="Microsoft YaHei"/>
              </a:rPr>
              <a:t>06 / CONVERSION FUNNEL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76EB1C-9405-4C26-94DF-165B73274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rPr>
              <a:t>从点击到购买：四层信息必须讲同一件事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C18A7F-FEFE-4870-9FD1-CC19B597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不是把素材堆满，而是让每一层都强化“硬核、自由、真实生存”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6F71BF-4875-4C48-B62A-DCE2ED03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1095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7A3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666667-5C37-4685-803C-D78F8844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6002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26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9DA9CD-6FAC-4B1A-8FC3-0B7DC1CD0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579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1B2B19-0A72-4132-B5CF-02A516B55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990600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9B332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C20896-1CEF-4B69-BC02-526BCF04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43125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AC2989-C697-47E0-B988-08E2ECF0C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1240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点击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6DF599-B7C9-49C7-A4C4-234147E8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90750"/>
            <a:ext cx="752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Logo、僵尸题材、俯视角实机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990EB8-FFE4-4100-9E19-BB753237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000375"/>
            <a:ext cx="828675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DB7A3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B5E085-8233-4841-859C-C99846733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190875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0B7B52-B592-47D4-9552-F521049E9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1718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84C163-88EB-4342-8C9F-C061688C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238500"/>
            <a:ext cx="590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生存／建造／沙盒／开放世界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18ADB8-0167-4629-9F4A-2155843E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048125"/>
            <a:ext cx="666750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405F7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0A1522-9ED0-463B-B0CC-254987E5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238625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DC5812-D0A6-472D-B71F-287015E0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2195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400620-9AD0-4CD7-84AA-AF6DF07C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286250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高好评率、海量评测、Workshop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D16A71-E723-4257-8416-31A389B44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5095875"/>
            <a:ext cx="504825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667C5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64D3DC-153E-4F65-89EE-9CA77ECD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5286375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EB2570-AFC1-4E17-A27D-ED10BE0A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52673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筛选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D8BB5D-F629-4705-8234-1CD02D38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33400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接受高难度与反复死亡的玩家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5618AB-373F-40D2-9432-0ED625DE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05525"/>
            <a:ext cx="3028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82E35"/>
          </a:solidFill>
          <a:ln xmlns:a="http://schemas.openxmlformats.org/drawingml/2006/main" w="9525">
            <a:solidFill>
              <a:srgbClr val="59616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C39B08-6E49-45CE-84D6-F25E1145B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81725"/>
            <a:ext cx="2686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rPr>
              <a:t>前15秒：快速回答核心玩法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6F1411-F8B5-4A41-A851-3082C2CA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105525"/>
            <a:ext cx="3028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82E35"/>
          </a:solidFill>
          <a:ln xmlns:a="http://schemas.openxmlformats.org/drawingml/2006/main" w="9525">
            <a:solidFill>
              <a:srgbClr val="59616B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909247-722C-4468-B67D-78AB95DC9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181725"/>
            <a:ext cx="2686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rPr>
              <a:t>评测页：把承诺交给玩家验证</a:t>
            </a:r>
          </a:p>
        </p:txBody>
      </p:sp>
    </p:spTree>
    <p:extLst>
      <p:ext uri="{BB962C8B-B14F-4D97-AF65-F5344CB8AC3E}">
        <p14:creationId xmlns:p14="http://schemas.microsoft.com/office/powerpoint/2010/main" val="165893985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E23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39E272-721A-4036-8B9D-54DD2188B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7A3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B179AA-4361-41E3-BDC2-2F4B2A7EB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DB7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B7A36"/>
                </a:solidFill>
                <a:latin typeface="Microsoft YaHei"/>
                <a:ea typeface="Microsoft YaHei"/>
                <a:cs typeface="Microsoft YaHei"/>
              </a:rPr>
              <a:t>07 / REVIEWS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39949F-0529-455D-9D39-D602DCAB1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rPr>
              <a:t>玩家口碑既是转化证据，也是全球需求地图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E92C4B-764C-4113-8773-E84AAED31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三语评测均来自Steam“发布至今最有价值”列表，票数为访问时截面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645D20-2418-49FB-AD5D-E9503FC0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1095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7A3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D76D9E-417C-4739-B94C-AF115577F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6002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26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9147E0-337F-4A24-8469-2A718FEB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579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e02ef00cb84385"/>
          <a:stretch xmlns:a="http://schemas.openxmlformats.org/drawingml/2006/main"/>
        </p:blipFill>
        <p:spPr>
          <a:xfrm xmlns:a="http://schemas.openxmlformats.org/drawingml/2006/main">
            <a:off x="514350" y="2390242"/>
            <a:ext cx="3333750" cy="1220265"/>
          </a:xfrm>
          <a:prstGeom xmlns:a="http://schemas.openxmlformats.org/drawingml/2006/main" prst="roundRect">
            <a:avLst>
              <a:gd name="adj" fmla="val 4545"/>
            </a:avLst>
          </a:prstGeom>
        </p:spPr>
      </p:pic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27ffc20a634121"/>
          <a:srcRect xmlns:a="http://schemas.openxmlformats.org/drawingml/2006/main" l="0" t="22658" r="0" b="226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29125" y="1952625"/>
            <a:ext cx="3333750" cy="2095500"/>
          </a:xfrm>
          <a:prstGeom xmlns:a="http://schemas.openxmlformats.org/drawingml/2006/main" prst="roundRect">
            <a:avLst>
              <a:gd name="adj" fmla="val 4545"/>
            </a:avLst>
          </a:prstGeom>
        </p:spPr>
      </p:pic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6081c0e72a4cf0"/>
          <a:srcRect xmlns:a="http://schemas.openxmlformats.org/drawingml/2006/main" l="0" t="19327" r="0" b="193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43900" y="1952625"/>
            <a:ext cx="2971800" cy="2095500"/>
          </a:xfrm>
          <a:prstGeom xmlns:a="http://schemas.openxmlformats.org/drawingml/2006/main" prst="roundRect">
            <a:avLst>
              <a:gd name="adj" fmla="val 4545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EB2F2D-01C1-4654-AB6A-A4CC0608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529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13" b="1">
                <a:solidFill>
                  <a:srgbClr val="DB7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DB7A36"/>
                </a:solidFill>
                <a:latin typeface="Microsoft YaHei"/>
                <a:ea typeface="Microsoft YaHei"/>
                <a:cs typeface="Microsoft YaHei"/>
              </a:rPr>
              <a:t>ENGLISH｜5,052人认为有用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4FC9EA-B2C1-4B28-BDFC-B5EE2438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1529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13" b="1">
                <a:solidFill>
                  <a:srgbClr val="DB7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DB7A36"/>
                </a:solidFill>
                <a:latin typeface="Microsoft YaHei"/>
                <a:ea typeface="Microsoft YaHei"/>
                <a:cs typeface="Microsoft YaHei"/>
              </a:rPr>
              <a:t>简体中文｜3,033人认为有价值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70F38F-E74F-4B11-93EB-66853FCA7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52900"/>
            <a:ext cx="2971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13" b="1">
                <a:solidFill>
                  <a:srgbClr val="DB7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DB7A36"/>
                </a:solidFill>
                <a:latin typeface="Microsoft YaHei"/>
                <a:ea typeface="Microsoft YaHei"/>
                <a:cs typeface="Microsoft YaHei"/>
              </a:rPr>
              <a:t>РУССКИЙ｜1,524人认为有用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8713AE-9C1E-4C94-A908-D3891216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2912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rPr>
              <a:t>“10/10 what a great zombie-survival game”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544E80-B8C6-48C5-8D3A-76E96CCC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42912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rPr>
              <a:t>“以下是对新人玩家的一些游玩建议”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F10EAF-8394-47B2-BAD5-6CA0C2A0F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429125"/>
            <a:ext cx="297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rPr>
              <a:t>“Спасибо за теплые воспоминания…”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F2D3EE-BB7E-4C4F-8903-92DAAF91A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0"/>
            <a:ext cx="108013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82E35"/>
          </a:solidFill>
          <a:ln xmlns:a="http://schemas.openxmlformats.org/drawingml/2006/main" w="9525">
            <a:solidFill>
              <a:srgbClr val="4A505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41DD79-CDDD-4C23-B488-A0ADEC9B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0"/>
            <a:ext cx="66675" cy="1000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05F7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EF8F43-FC71-4BC5-9B08-54527A4D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24450"/>
            <a:ext cx="10363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rPr>
              <a:t>口碑推力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B090A7-EFB0-4269-9487-1D7AECCD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62600"/>
            <a:ext cx="10344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2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88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玩家在购买前会看评测，而高赞内容反复呈现“高密度细节、失败复盘、玩家互助与共同记忆”。这些真实叙事与“硬核、自由、Mod”偏好相互验证，进一步降低购买决策的不确定性。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87DAE2-423F-442C-8BC3-5A215F87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53150"/>
            <a:ext cx="108013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来源：Steam Community最有价值评测页（英语／简体中文／俄语）；访问日期：2026年10月7日。语言分布API截面：英语43.10%、西语15.15%、俄语13.85%、中文6.55%。</a:t>
            </a:r>
          </a:p>
        </p:txBody>
      </p:sp>
    </p:spTree>
    <p:extLst>
      <p:ext uri="{BB962C8B-B14F-4D97-AF65-F5344CB8AC3E}">
        <p14:creationId xmlns:p14="http://schemas.microsoft.com/office/powerpoint/2010/main" val="2701434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E23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E45AD3-F9C4-4FD5-8451-3B8DB69E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7A3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6824AB-B89E-4CD3-96A4-0E756085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DB7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B7A36"/>
                </a:solidFill>
                <a:latin typeface="Microsoft YaHei"/>
                <a:ea typeface="Microsoft YaHei"/>
                <a:cs typeface="Microsoft YaHei"/>
              </a:rPr>
              <a:t>08 / DISCORD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2772F3-3C6D-4CC5-BDF7-16B291759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rPr>
              <a:t>Discord不是客服渠道，而是共同构建游戏生态的阵地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B865D1-0C97-43E3-9A38-4C1452D3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公开邀请API验证规模；官方博客验证反馈机制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49A42C-E5A3-4848-B20B-531B04B7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1095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7A3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D91C3D-C92D-4773-8A27-D213EAF1C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6002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26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00E931-3EB4-4994-961C-E82EEAAD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579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ca8632270c447e"/>
          <a:srcRect xmlns:a="http://schemas.openxmlformats.org/drawingml/2006/main" l="0" t="18442" r="0" b="184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924050"/>
            <a:ext cx="5334000" cy="2571750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8D90EB-EC4C-4DD6-9624-837A72DDB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0"/>
            <a:ext cx="5334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出自Discord官方Project Zomboid公开页，访问日期：2026年10月7日。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0C04EC-B8FB-4285-BB15-6613FA2C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24050"/>
            <a:ext cx="2476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333A4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0CF15E-1E69-46E4-880A-8F1F6793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24050"/>
            <a:ext cx="57150" cy="990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B332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B42707-1D4B-41FF-BDC3-473BB1A4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66925"/>
            <a:ext cx="217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236,377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98D783-97D4-428D-864C-9E86833E8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57450"/>
            <a:ext cx="2171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rPr>
              <a:t>服务器成员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B38219-C50C-490B-8CED-5A923F870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86050"/>
            <a:ext cx="2171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官方公开页截面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EBE6F5-6773-49DD-BC66-09ED4577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24050"/>
            <a:ext cx="2476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333A4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C89987-F316-4C4B-8BED-6C353401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24050"/>
            <a:ext cx="57150" cy="990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7A3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6F1099-D670-4E93-B2F0-2E2245B0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66925"/>
            <a:ext cx="217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75,855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7A3445-49A6-4B4B-AB0A-66401E48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57450"/>
            <a:ext cx="2171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rPr>
              <a:t>当时在线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794EF1-FB3D-4D8B-B4AE-B756BCBF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86050"/>
            <a:ext cx="2171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官方公开页截面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96003B-39D0-4382-9666-9C055AF2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14675"/>
            <a:ext cx="51625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282E35"/>
          </a:solidFill>
          <a:ln xmlns:a="http://schemas.openxmlformats.org/drawingml/2006/main" w="9525">
            <a:solidFill>
              <a:srgbClr val="4A505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7F3C4C-F85A-4F45-907F-4D4EFA58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14675"/>
            <a:ext cx="66675" cy="1381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05F7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16720A-95CE-4484-B619-5559EEFE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86125"/>
            <a:ext cx="472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rPr>
              <a:t>3.1 频道架构与验证边界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04BFA3-38B8-47ED-98AC-F2F144B42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24275"/>
            <a:ext cx="47053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88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完整频道列表需要进入服务器后才能可靠确认，因此本报告不把未验证频道名称当作证据。可验证的是：官方服务器身份、公开规模，以及 #localisation_feedback 反馈入口。</a:t>
            </a:r>
          </a:p>
        </p:txBody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553f0b73d840e0"/>
          <a:srcRect xmlns:a="http://schemas.openxmlformats.org/drawingml/2006/main" l="0" t="29426" r="0" b="294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4895850"/>
            <a:ext cx="4953000" cy="1009650"/>
          </a:xfrm>
          <a:prstGeom xmlns:a="http://schemas.openxmlformats.org/drawingml/2006/main" prst="roundRect">
            <a:avLst>
              <a:gd name="adj" fmla="val 9434"/>
            </a:avLst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6EE725-728C-4BB5-9B81-9C479448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895850"/>
            <a:ext cx="558165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282E35"/>
          </a:solidFill>
          <a:ln xmlns:a="http://schemas.openxmlformats.org/drawingml/2006/main" w="9525">
            <a:solidFill>
              <a:srgbClr val="4A505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1A2DC6-AFD4-47DD-8B62-223E49603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895850"/>
            <a:ext cx="66675" cy="1009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7C5B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3C3A47-CE4D-434A-87E1-BFA3BEFEA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067300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rPr>
              <a:t>3.2 开发者与玩家的互动机制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92B61B-989E-4487-BF74-0D75B887B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505450"/>
            <a:ext cx="512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31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88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开发进度通过官方博客持续公开；社区承接问题反馈、测试讨论与玩家互助。玩家不是被动等待更新，而是在参与游戏的进化过程。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B23F40-077B-4D39-B5DD-5C4E9690E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38850"/>
            <a:ext cx="108013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9B332E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D9B2C4-E369-4633-9180-8095B42A0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15050"/>
            <a:ext cx="10420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核心洞察：社区运营的核心不是官方发多少公告，而是能否让玩家生产内容、互相帮助，并在社区中获得成就感。</a:t>
            </a:r>
          </a:p>
        </p:txBody>
      </p:sp>
    </p:spTree>
    <p:extLst>
      <p:ext uri="{BB962C8B-B14F-4D97-AF65-F5344CB8AC3E}">
        <p14:creationId xmlns:p14="http://schemas.microsoft.com/office/powerpoint/2010/main" val="187640581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E23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69EB88-CECD-4531-8669-ED1C0149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7A3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EDE319-1AA5-4B20-B05B-800BE578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DB7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B7A36"/>
                </a:solidFill>
                <a:latin typeface="Microsoft YaHei"/>
                <a:ea typeface="Microsoft YaHei"/>
                <a:cs typeface="Microsoft YaHei"/>
              </a:rPr>
              <a:t>09 / MOD ECOSYSTEM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774637-685A-4F30-8A76-3AEE60393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rPr>
              <a:t>模组生态与创作者案例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115EAB-EA81-49E9-9C74-D457F3A6E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从66,070个Workshop物品，到作者本人制作并发布的《防腐剂》模组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35A6EC-810A-4AD2-BE5D-7C6D3A59D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1095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7A3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187E72-3DA2-4031-83BD-3295D74F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6002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26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EEC86B-1421-49E8-9E66-41ABB5DF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579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75f6ddd3894669"/>
          <a:srcRect xmlns:a="http://schemas.openxmlformats.org/drawingml/2006/main" l="0" t="16370" r="0" b="163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924050"/>
            <a:ext cx="5143500" cy="2057400"/>
          </a:xfrm>
          <a:prstGeom xmlns:a="http://schemas.openxmlformats.org/drawingml/2006/main" prst="roundRect">
            <a:avLst>
              <a:gd name="adj" fmla="val 463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091000-8B30-4507-9CDB-257783204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57650"/>
            <a:ext cx="5143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作者提供的《防腐剂》Steam Workshop主页截图，2026年10月。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38d475feb641a9"/>
          <a:stretch xmlns:a="http://schemas.openxmlformats.org/drawingml/2006/main"/>
        </p:blipFill>
        <p:spPr>
          <a:xfrm xmlns:a="http://schemas.openxmlformats.org/drawingml/2006/main">
            <a:off x="514350" y="4364831"/>
            <a:ext cx="1428750" cy="1785938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19F87E-F1E9-41AA-A265-009322DFF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362450"/>
            <a:ext cx="3543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DB7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DB7A36"/>
                </a:solidFill>
                <a:latin typeface="Microsoft YaHei"/>
                <a:ea typeface="Microsoft YaHei"/>
                <a:cs typeface="Microsoft YaHei"/>
              </a:rPr>
              <a:t>3.3 从玩家到创作者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433887-4941-4F57-A1EE-36815686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705350"/>
            <a:ext cx="35433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88" b="0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rPr>
              <a:t>代表作《防腐剂》面向Build 42，在食物保鲜、全局腐败速度、中毒与解毒反馈之间做了一套完整系统。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AB8691-CC9D-4339-9ACF-0ADBB090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410200"/>
            <a:ext cx="3543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13" b="1">
                <a:solidFill>
                  <a:srgbClr val="F2B4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F2B457"/>
                </a:solidFill>
                <a:latin typeface="Microsoft YaHei"/>
                <a:ea typeface="Microsoft YaHei"/>
                <a:cs typeface="Microsoft YaHei"/>
              </a:rPr>
              <a:t>4,431 不重复访客｜1,480 当前订阅｜182 当前收藏｜4个讨论｜10条留言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A68A18-1869-4898-978F-BC58A257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915025"/>
            <a:ext cx="3543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动态图为作者提供素材；放映时循环播放。</a:t>
            </a:r>
          </a:p>
        </p:txBody>
      </p:sp>
      <p:graphicFrame>
        <p:nvGraphicFramePr>
          <p:cNvPr id="34" name="Chart"/>
          <p:cNvGraphicFramePr/>
          <p:nvPr/>
        </p:nvGraphicFramePr>
        <p:xfrm>
          <a:off xmlns:a="http://schemas.openxmlformats.org/drawingml/2006/main" x="5962650" y="1924050"/>
          <a:ext xmlns:a="http://schemas.openxmlformats.org/drawingml/2006/main" cx="535305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aac39b78e204d05"/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AF2A86-35D2-4A0B-B705-D009D007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238750"/>
            <a:ext cx="5353050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282E35"/>
          </a:solidFill>
          <a:ln xmlns:a="http://schemas.openxmlformats.org/drawingml/2006/main" w="9525">
            <a:solidFill>
              <a:srgbClr val="59616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8996D1-7F67-4CEE-A1B4-E94A91782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362575"/>
            <a:ext cx="497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42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rPr>
              <a:t>《防腐剂》属于长尾个人创作者作品，价值在于完整闭环能力，而非规模。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A42D32-58F3-4FD3-99AD-F550288B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695950"/>
            <a:ext cx="497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13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创作者获得真实订阅与反馈，玩家获得新系统内容，官方则扩大可玩边界。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73B1A6-4115-4D88-819A-B1EAB4A1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6172200"/>
            <a:ext cx="53530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模组订阅截面来源：各Steam Workshop公开物品页；头部对比值经核实后更新，访问日期：2026年10月7日。</a:t>
            </a:r>
          </a:p>
        </p:txBody>
      </p:sp>
    </p:spTree>
    <p:extLst>
      <p:ext uri="{BB962C8B-B14F-4D97-AF65-F5344CB8AC3E}">
        <p14:creationId xmlns:p14="http://schemas.microsoft.com/office/powerpoint/2010/main" val="177493789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E23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86462A-F2A3-4C7D-B67F-E44B9744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7A3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80BB81-0165-4593-8129-AD561408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DB7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B7A36"/>
                </a:solidFill>
                <a:latin typeface="Microsoft YaHei"/>
                <a:ea typeface="Microsoft YaHei"/>
                <a:cs typeface="Microsoft YaHei"/>
              </a:rPr>
              <a:t>10 / GLOBALIZATION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D58880-42AF-4F98-BCEB-775BD1225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rPr>
              <a:t>语言、价格与社区反馈，共同降低全球玩家的进入门槛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083043-67E9-4018-8213-5AC33606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价格为促销期截面，不代表长期固定价格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33C095-BF3F-43F4-B9F8-B8313503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1095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7A3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F45554-B7F8-41DA-8DAD-4E9A7F817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6002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26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80A980-308A-47B9-9EAA-0ED6BB9CA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579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8F6372-38E1-4F1F-B355-1E66F6F9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24050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DB7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DB7A36"/>
                </a:solidFill>
                <a:latin typeface="Microsoft YaHei"/>
                <a:ea typeface="Microsoft YaHei"/>
                <a:cs typeface="Microsoft YaHei"/>
              </a:rPr>
              <a:t>24种界面语言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F06A90-A28E-4E6B-8CFF-E3DDB258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0"/>
            <a:ext cx="4476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Steam商店页显示支持简体中文、繁体中文、俄文、西班牙文、法文、德文、波兰文、巴西葡萄牙文等。Build 42.20公告还直接回应中文字体与部分语言缺字问题。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611ECA-02B5-4116-AAB2-3FAF75E4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0"/>
            <a:ext cx="44767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282E35"/>
          </a:solidFill>
          <a:ln xmlns:a="http://schemas.openxmlformats.org/drawingml/2006/main" w="9525">
            <a:solidFill>
              <a:srgbClr val="4A505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AA5728-1023-430D-864F-7676DD35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0"/>
            <a:ext cx="66675" cy="1676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05F7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174295-96FA-4A52-A9A0-212CEF3AB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403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rPr>
              <a:t>本地化闭环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1B9BA5-4684-4335-B1BD-4EF67B38F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40195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88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版本更新 → 问题披露 → Discord反馈 → 后续修复。真正的本地化运营，不只是翻译文本，而是持续维护语言体验。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5381625" y="1952625"/>
          <a:ext xmlns:a="http://schemas.openxmlformats.org/drawingml/2006/main" cx="5934075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3011f6c770e4da7"/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20B642-1424-4CE3-851B-3327AB837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619750"/>
            <a:ext cx="5934075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282E35"/>
          </a:solidFill>
          <a:ln xmlns:a="http://schemas.openxmlformats.org/drawingml/2006/main" w="9525">
            <a:solidFill>
              <a:srgbClr val="59616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CD34C5-BEC1-45BD-A432-F6A377BF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5791200"/>
            <a:ext cx="55911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rPr>
              <a:t>美国 $16.74（-33%）｜中国 ¥62.31｜俄罗斯 ₽703｜拉美美元区 $8.36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C1E1D4-DCD9-41B7-88ED-A296F8B15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38875"/>
            <a:ext cx="108013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来源：Steam商店页、SteamDB公开价格截面、The Indie Stone Build 42.20公告；访问日期：2026年10月5日。</a:t>
            </a:r>
          </a:p>
        </p:txBody>
      </p:sp>
    </p:spTree>
    <p:extLst>
      <p:ext uri="{BB962C8B-B14F-4D97-AF65-F5344CB8AC3E}">
        <p14:creationId xmlns:p14="http://schemas.microsoft.com/office/powerpoint/2010/main" val="25527451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E23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1751F6-1990-4037-A68C-7765C5590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7A3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84CA71-EEC3-47E3-93B2-ABE3F597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DB7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B7A36"/>
                </a:solidFill>
                <a:latin typeface="Microsoft YaHei"/>
                <a:ea typeface="Microsoft YaHei"/>
                <a:cs typeface="Microsoft YaHei"/>
              </a:rPr>
              <a:t>11 / CORE INSIGHTS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A853CA-7CA1-4094-A8ED-235E4FF1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rPr>
              <a:t>三条核心洞察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903999-9AED-4892-BB64-42A4BFB0D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把商店页、社区与UGC理解为同一套长线增长系统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592D7A-793E-4FED-BB55-92B11C001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1095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7A3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22D66E-1FD8-4580-A102-725EA3B2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6002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26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5632AA-16EA-4D08-A123-0A5FD126B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579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5A79E9-7BC5-426C-A749-95356C82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3429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282E35"/>
          </a:solidFill>
          <a:ln xmlns:a="http://schemas.openxmlformats.org/drawingml/2006/main" w="9525">
            <a:solidFill>
              <a:srgbClr val="4A50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449D68-52F3-4D98-AFB0-AAD37CED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66675" cy="3333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B332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DF2600-E59F-433D-BBAA-865DA1B33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9B3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9B332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02F204-F6FD-4D39-8BB3-49BC2E19E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171700"/>
            <a:ext cx="255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rPr>
              <a:t>长线发行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0A9F81-BA2C-4C34-9808-08A39897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29718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88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长线生存品类的发行，要重视模组生态而不是仅仅依靠官方更新。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088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模组作者持续产出高质量内容，极大地延长游戏生命周期，并让每次回流都拥有新的玩法理由。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DA66A5-AA7B-4948-BDF8-60448B797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00250"/>
            <a:ext cx="3429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282E35"/>
          </a:solidFill>
          <a:ln xmlns:a="http://schemas.openxmlformats.org/drawingml/2006/main" w="9525">
            <a:solidFill>
              <a:srgbClr val="4A505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DD8E15-866F-4CD0-A667-32C74F8B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00250"/>
            <a:ext cx="66675" cy="3333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7A3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77E06F-E241-409D-8906-1F6D3BEC5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526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DB7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DB7A3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F3E7C8-39B8-4378-A218-7CD3BFB4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171700"/>
            <a:ext cx="255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rPr>
              <a:t>社区共创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900464-3432-4C17-BC8A-D98BDB8F2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09850"/>
            <a:ext cx="29718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88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社区运营不是发公告，而是要把玩家变成内容的共同生产者。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088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《防腐剂》的订阅、收藏、讨论与留言证明，创作者可以把玩家需求转化为持续更新的系统内容。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2C6A79-046A-4DED-83BF-6DD2FE70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00250"/>
            <a:ext cx="3067050" cy="3333750"/>
          </a:xfrm>
          <a:prstGeom xmlns:a="http://schemas.openxmlformats.org/drawingml/2006/main" prst="roundRect">
            <a:avLst>
              <a:gd name="adj" fmla="val 3727"/>
            </a:avLst>
          </a:prstGeom>
          <a:solidFill xmlns:a="http://schemas.openxmlformats.org/drawingml/2006/main">
            <a:srgbClr val="282E35"/>
          </a:solidFill>
          <a:ln xmlns:a="http://schemas.openxmlformats.org/drawingml/2006/main" w="9525">
            <a:solidFill>
              <a:srgbClr val="4A505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2E8101-3F3F-447E-9182-AE22622EB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00250"/>
            <a:ext cx="66675" cy="3333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05F7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F6552F-9F94-4368-BE53-0E4AB820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526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405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405F7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8CA0EF-678C-435B-8F69-170C1424B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717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rPr>
              <a:t>身份转变即留存机制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F54971-615D-4661-9797-FA50409D0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09850"/>
            <a:ext cx="26098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88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模组作者的身份让我从玩家变成创作者。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088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当玩家在社区中获得“我能改变这个游戏”的掌控感时，身份转变本身就会成为最有效的留存机制。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9166C4-DF10-495D-9339-99201BADB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67375"/>
            <a:ext cx="108013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9B332E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BE2606-F21F-4E31-93D0-888F4FBA8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1030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转化效率 × 社区归属 × UGC供给 = 十年以上仍能增长的生命周期</a:t>
            </a:r>
          </a:p>
        </p:txBody>
      </p:sp>
    </p:spTree>
    <p:extLst>
      <p:ext uri="{BB962C8B-B14F-4D97-AF65-F5344CB8AC3E}">
        <p14:creationId xmlns:p14="http://schemas.microsoft.com/office/powerpoint/2010/main" val="111928583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E23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8D869B5-B388-4A56-8F3D-92E33903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7A3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E5A07F-47B7-4EC9-957A-DCDF278FE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DB7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B7A36"/>
                </a:solidFill>
                <a:latin typeface="Microsoft YaHei"/>
                <a:ea typeface="Microsoft YaHei"/>
                <a:cs typeface="Microsoft YaHei"/>
              </a:rPr>
              <a:t>12 / COMPETITIVE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EC273A-8926-4F06-BCAC-D7C94AD6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6F0E6"/>
                </a:solidFill>
                <a:latin typeface="Microsoft YaHei"/>
                <a:ea typeface="Microsoft YaHei"/>
                <a:cs typeface="Microsoft YaHei"/>
              </a:rPr>
              <a:t>竞品对比：为什么《Project Zomboid》能比同类产品活得更久？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C77352-33F4-4C98-A5C6-BBF76E04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这里的“长寿”不只看年限，而是看玩家身份、内容供给与反馈链路是否持续深化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65A8A7-040F-4DFA-87E5-BC158C7F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1095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7A3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E4C0A0-5424-482F-96DF-5410F99D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6002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26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638BAE-C161-4781-883B-60F69EB0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579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2A4A4D-8252-440B-A8FE-DE3B9FC8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3429000" cy="4048125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282E35"/>
          </a:solidFill>
          <a:ln xmlns:a="http://schemas.openxmlformats.org/drawingml/2006/main" w="9525">
            <a:solidFill>
              <a:srgbClr val="4A5058"/>
            </a:solidFill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8010a12a064c94"/>
          <a:srcRect xmlns:a="http://schemas.openxmlformats.org/drawingml/2006/main" l="0" t="21473" r="0" b="214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866900"/>
            <a:ext cx="3429000" cy="914400"/>
          </a:xfrm>
          <a:prstGeom xmlns:a="http://schemas.openxmlformats.org/drawingml/2006/main" prst="roundRect">
            <a:avLst>
              <a:gd name="adj" fmla="val 10417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C60511-FE48-4378-9FF9-34A854AA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38425"/>
            <a:ext cx="342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70000"/>
            </a:srgbClr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EB2891-258D-403B-B2F7-590DE1F6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52725"/>
            <a:ext cx="3124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Project Zomboid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DC8744-E8D7-46B0-8358-381D4F6D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9B3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9B332E"/>
                </a:solidFill>
                <a:latin typeface="Microsoft YaHei"/>
                <a:ea typeface="Microsoft YaHei"/>
                <a:cs typeface="Microsoft YaHei"/>
              </a:rPr>
              <a:t>商店页策略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F13A07-BDAE-4236-82D0-DE386501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7575"/>
            <a:ext cx="3086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38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俯视角硬核模拟；实机演示与“How will you die?”直接筛选核心玩家。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DBD591-8E9A-4B42-9638-4A058E5DA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3086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565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C0AD32-4350-4FFB-8661-837939833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9B3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9B332E"/>
                </a:solidFill>
                <a:latin typeface="Microsoft YaHei"/>
                <a:ea typeface="Microsoft YaHei"/>
                <a:cs typeface="Microsoft YaHei"/>
              </a:rPr>
              <a:t>模组生态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FC002A-8058-4085-8498-332BD67EC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3086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38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Steam Workshop深度集成；66,070个物品，订阅、更新与分发链路低摩擦。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A538E1-659B-4247-9AC6-850A3B7C1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86325"/>
            <a:ext cx="3086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565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C0DC25-4B0C-4444-AD16-06BD9F0DD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9B3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9B332E"/>
                </a:solidFill>
                <a:latin typeface="Microsoft YaHei"/>
                <a:ea typeface="Microsoft YaHei"/>
                <a:cs typeface="Microsoft YaHei"/>
              </a:rPr>
              <a:t>本地化深度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E05C76-D3A7-4197-97D0-3AEED1AE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3086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38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24种界面语言；官方Discord设#localisation_feedback，并公开回应中文字体问题。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872025-CE39-46E6-B63F-6BCC7FCA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66900"/>
            <a:ext cx="3429000" cy="4048125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282E35"/>
          </a:solidFill>
          <a:ln xmlns:a="http://schemas.openxmlformats.org/drawingml/2006/main" w="9525">
            <a:solidFill>
              <a:srgbClr val="4A5058"/>
            </a:solidFill>
          </a:ln>
        </p:spPr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c94f1237c04d79"/>
          <a:srcRect xmlns:a="http://schemas.openxmlformats.org/drawingml/2006/main" l="0" t="21591" r="0" b="215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0" y="1866900"/>
            <a:ext cx="3429000" cy="914400"/>
          </a:xfrm>
          <a:prstGeom xmlns:a="http://schemas.openxmlformats.org/drawingml/2006/main" prst="roundRect">
            <a:avLst>
              <a:gd name="adj" fmla="val 10417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260F17-6E3F-4332-B146-B5983C4F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38425"/>
            <a:ext cx="342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70000"/>
            </a:srgbClr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7301B2-A9E3-4E6D-B232-CD7D0C2CB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52725"/>
            <a:ext cx="3124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 Days to Die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4A105C-3177-4744-9AA2-0503543F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2194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DB7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DB7A36"/>
                </a:solidFill>
                <a:latin typeface="Microsoft YaHei"/>
                <a:ea typeface="Microsoft YaHei"/>
                <a:cs typeface="Microsoft YaHei"/>
              </a:rPr>
              <a:t>商店页策略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8CFFA3-FE07-48F3-B2F8-C4765370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457575"/>
            <a:ext cx="3086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38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第一人称体素生存、制作与塔防；2024年7月25日正式推出1.0，已退出抢先体验。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AE3522-7B8E-44E9-B777-7FAEAEEC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19550"/>
            <a:ext cx="3086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565E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C1E7DD-C4B5-458A-8956-4B2D1673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862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DB7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DB7A36"/>
                </a:solidFill>
                <a:latin typeface="Microsoft YaHei"/>
                <a:ea typeface="Microsoft YaHei"/>
                <a:cs typeface="Microsoft YaHei"/>
              </a:rPr>
              <a:t>模组生态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F02111-02A0-4668-9862-1729FD56D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324350"/>
            <a:ext cx="3086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38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Steam商店页未列Workshop；模组主要经官方论坛与Nexus等渠道分发，安装链路更分散。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682B3E-B836-4040-80F8-6E0D76663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886325"/>
            <a:ext cx="3086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565E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C76290-956F-4BAF-B820-6FD7D02A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9530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DB7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DB7A36"/>
                </a:solidFill>
                <a:latin typeface="Microsoft YaHei"/>
                <a:ea typeface="Microsoft YaHei"/>
                <a:cs typeface="Microsoft YaHei"/>
              </a:rPr>
              <a:t>本地化深度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9EA609-39A0-43D6-B91F-C2EA452C5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191125"/>
            <a:ext cx="3086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38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Steam显示14种语言；覆盖核心市场，但未验证到与PZ同等公开的本地化反馈闭环。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802950-7C0F-4543-B920-C2CE8A9FF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866900"/>
            <a:ext cx="3429000" cy="4048125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282E35"/>
          </a:solidFill>
          <a:ln xmlns:a="http://schemas.openxmlformats.org/drawingml/2006/main" w="9525">
            <a:solidFill>
              <a:srgbClr val="4A5058"/>
            </a:solidFill>
          </a:ln>
        </p:spPr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e269641ee04acc"/>
          <a:srcRect xmlns:a="http://schemas.openxmlformats.org/drawingml/2006/main" l="0" t="21591" r="0" b="215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67650" y="1866900"/>
            <a:ext cx="3429000" cy="914400"/>
          </a:xfrm>
          <a:prstGeom xmlns:a="http://schemas.openxmlformats.org/drawingml/2006/main" prst="roundRect">
            <a:avLst>
              <a:gd name="adj" fmla="val 10417"/>
            </a:avLst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736F7FC-4CF6-4C96-9993-806B850A4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638425"/>
            <a:ext cx="342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70000"/>
            </a:srgbClr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F765C9-90C2-47EB-9A4D-17F04420F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52725"/>
            <a:ext cx="3124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Rust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07AAF41-E17F-4C16-B6E8-9C7989DD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194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405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405F78"/>
                </a:solidFill>
                <a:latin typeface="Microsoft YaHei"/>
                <a:ea typeface="Microsoft YaHei"/>
                <a:cs typeface="Microsoft YaHei"/>
              </a:rPr>
              <a:t>商店页策略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59C76FE-F77C-437A-B4E3-4EE0F587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57575"/>
            <a:ext cx="3086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38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强调PvP、社交与服务器生存；截面约8.86万人在线，历史峰值26.23万。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17F1A78-012E-423A-8725-C8A0D84F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19550"/>
            <a:ext cx="3086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565E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C8261DB-8B3B-45F3-80A4-8D5B6A72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862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405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405F78"/>
                </a:solidFill>
                <a:latin typeface="Microsoft YaHei"/>
                <a:ea typeface="Microsoft YaHei"/>
                <a:cs typeface="Microsoft YaHei"/>
              </a:rPr>
              <a:t>模组生态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163854D-58AE-4B6C-9E23-A2D771DD6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24350"/>
            <a:ext cx="3086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38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Steam Workshop以皮肤等创作为主；玩法扩展更依赖服务器与第三方模组框架。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A5E9445-CADC-4067-B933-8938F634C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886325"/>
            <a:ext cx="3086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565E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491AD7C-2A8F-4947-AC73-08E19468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9530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405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405F78"/>
                </a:solidFill>
                <a:latin typeface="Microsoft YaHei"/>
                <a:ea typeface="Microsoft YaHei"/>
                <a:cs typeface="Microsoft YaHei"/>
              </a:rPr>
              <a:t>本地化深度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426B0EA-32DA-4999-9C06-47B94BE5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191125"/>
            <a:ext cx="3086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38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Steam显示25种语言；全球覆盖强，社区运营重心更偏服务器与竞技生态。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9F5F914-8704-4001-8B8B-1E9CF73FB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67425"/>
            <a:ext cx="108013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9B332E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F3A29B4-ABE7-4E5F-A1C8-5D485BA1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43625"/>
            <a:ext cx="10420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核心判断：PZ的优势不是绝对规模，而是把真实商店承诺、低摩擦玩法UGC与可见反馈闭环连接成同一套飞轮。</a:t>
            </a:r>
          </a:p>
        </p:txBody>
      </p:sp>
    </p:spTree>
    <p:extLst>
      <p:ext uri="{BB962C8B-B14F-4D97-AF65-F5344CB8AC3E}">
        <p14:creationId xmlns:p14="http://schemas.microsoft.com/office/powerpoint/2010/main" val="193884428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214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62cb50b2fc4928"/>
          <a:srcRect xmlns:a="http://schemas.openxmlformats.org/drawingml/2006/main" l="2454" t="0" r="245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1CB559-E348-404B-BE29-DE2BDE5F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B0E">
              <a:alpha val="78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FC1113-B944-4519-AA4F-21D6FD76E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7A3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92E892-9880-4242-95DD-56904852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742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对出海游戏的参考建议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A768DD-FFFC-442C-8D71-52B75618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76325"/>
            <a:ext cx="771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2B4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2B457"/>
                </a:solidFill>
                <a:latin typeface="Microsoft YaHei"/>
                <a:ea typeface="Microsoft YaHei"/>
                <a:cs typeface="Microsoft YaHei"/>
              </a:rPr>
              <a:t>尤其适用于FunPlus正在发力的SLG与模拟经营赛道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B86D64-F9DB-4061-9F6B-36B7E29A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43075"/>
            <a:ext cx="5105400" cy="1352550"/>
          </a:xfrm>
          <a:prstGeom xmlns:a="http://schemas.openxmlformats.org/drawingml/2006/main" prst="roundRect">
            <a:avLst>
              <a:gd name="adj" fmla="val 9859"/>
            </a:avLst>
          </a:prstGeom>
          <a:solidFill xmlns:a="http://schemas.openxmlformats.org/drawingml/2006/main">
            <a:srgbClr val="151A20">
              <a:alpha val="90000"/>
            </a:srgbClr>
          </a:solidFill>
          <a:ln xmlns:a="http://schemas.openxmlformats.org/drawingml/2006/main" w="9525">
            <a:solidFill>
              <a:srgbClr val="59616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D22A5C-E31F-45E3-AA02-228EDD84C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1452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DB7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DB7A3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D36FA8-2BC4-4EF8-80B4-5D01EF1E1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95262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商店页前15秒实机演示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5FAB4D-E3F7-4F97-B991-9169C1EDF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86025"/>
            <a:ext cx="4648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让玩家快速理解“玩起来是什么感觉”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A639B0-A9A0-4005-9867-3EC9FA435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743075"/>
            <a:ext cx="5105400" cy="1352550"/>
          </a:xfrm>
          <a:prstGeom xmlns:a="http://schemas.openxmlformats.org/drawingml/2006/main" prst="roundRect">
            <a:avLst>
              <a:gd name="adj" fmla="val 9859"/>
            </a:avLst>
          </a:prstGeom>
          <a:solidFill xmlns:a="http://schemas.openxmlformats.org/drawingml/2006/main">
            <a:srgbClr val="151A20">
              <a:alpha val="90000"/>
            </a:srgbClr>
          </a:solidFill>
          <a:ln xmlns:a="http://schemas.openxmlformats.org/drawingml/2006/main" w="9525">
            <a:solidFill>
              <a:srgbClr val="59616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3FA2B8-AB4E-41F4-B08F-FA303289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1452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405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405F7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6F15D6-8569-47B8-BD12-FA8995696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5262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Discord设立创作者板块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F83AED-90AA-4C35-86FA-6970938D4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86025"/>
            <a:ext cx="4648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让测试、答疑、工具与UGC形成闭环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D2A671-D859-41B4-AA35-8FBBE26F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09950"/>
            <a:ext cx="5105400" cy="1352550"/>
          </a:xfrm>
          <a:prstGeom xmlns:a="http://schemas.openxmlformats.org/drawingml/2006/main" prst="roundRect">
            <a:avLst>
              <a:gd name="adj" fmla="val 9859"/>
            </a:avLst>
          </a:prstGeom>
          <a:solidFill xmlns:a="http://schemas.openxmlformats.org/drawingml/2006/main">
            <a:srgbClr val="151A20">
              <a:alpha val="90000"/>
            </a:srgbClr>
          </a:solidFill>
          <a:ln xmlns:a="http://schemas.openxmlformats.org/drawingml/2006/main" w="9525">
            <a:solidFill>
              <a:srgbClr val="59616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3DD2AD-50AF-467B-9F23-129E1578F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DB7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DB7A3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24AED2-6865-406A-B71B-332EE46E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195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初期完成多语言与区域定价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FF8147-AF27-4B66-83FC-7F1292DB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52900"/>
            <a:ext cx="4648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优先覆盖俄语、中文、西班牙语社区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BEC3B2-2A03-49F0-BCFB-CE670C6E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409950"/>
            <a:ext cx="5105400" cy="1352550"/>
          </a:xfrm>
          <a:prstGeom xmlns:a="http://schemas.openxmlformats.org/drawingml/2006/main" prst="roundRect">
            <a:avLst>
              <a:gd name="adj" fmla="val 9859"/>
            </a:avLst>
          </a:prstGeom>
          <a:solidFill xmlns:a="http://schemas.openxmlformats.org/drawingml/2006/main">
            <a:srgbClr val="151A20">
              <a:alpha val="90000"/>
            </a:srgbClr>
          </a:solidFill>
          <a:ln xmlns:a="http://schemas.openxmlformats.org/drawingml/2006/main" w="9525">
            <a:solidFill>
              <a:srgbClr val="59616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4CD52E-C6D3-491E-84F3-6EAE3359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814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405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405F7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D724CE-3BA6-4547-AA76-4A2E1F69E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6195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迁移到SLG联盟社交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3878CF-5E13-4648-AB50-368F41FAE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52900"/>
            <a:ext cx="4648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把攻略、联盟管理工具与玩家共创接入社区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0D3B5B-4074-4F38-96F8-63A0CFE80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0"/>
            <a:ext cx="1053465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9B332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DDCFA2-131B-4B92-90DF-5B8E9549A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57825"/>
            <a:ext cx="10077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用真实实机筛选核心受众，用清晰社区结构承接反馈，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用创作工具与曝光机制放大UGC，再用多语言和区域价格复制增长飞轮。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A4BC79-23EC-411B-8AA8-74C7FFD81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9810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背景图出自Steam《Project Zomboid》官方商店页截图，访问日期：2026年10月5日。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69949E-F6FA-49AD-B84F-4924A1CBE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770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DB7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DB7A36"/>
                </a:solidFill>
                <a:latin typeface="Microsoft YaHei"/>
                <a:ea typeface="Microsoft YaHei"/>
                <a:cs typeface="Microsoft YaHei"/>
              </a:rPr>
              <a:t>THE END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B61E5E-E23C-4648-93E4-317A369E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579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B9B3AA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2025852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2026-10-06T17:48:09.4650000Z</dcterms:created>
  <dcterms:modified xsi:type="dcterms:W3CDTF">2026-10-06T17:48:09.4650000Z</dcterms:modified>
</coreProperties>
</file>